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7CBA65-9E60-BA99-55B7-3B94E7CF4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85F4C02-0CB9-82E0-7C1E-8851F13D9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C74DE8-2035-5CC0-0652-A8DD6C4B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021A4C-5023-7FC2-7144-5F237889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ED8C77-72B2-ED07-819A-35B2B2DF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76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96C080-4559-D145-5B9F-B244D1E8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8A1862-F009-5437-1137-4AA0BCD1F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2AAAC9-21F1-C48C-AAE8-63CF4C8C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9CD1FF-8416-D5F3-4EB5-FF8BC389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B1B4C6-0CF3-E5B3-F144-762FECF4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80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D9DD51-D3C6-6F78-AD48-43384B16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3F4A90-3509-0EE0-8E5C-98CF8ECF0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797930-F164-2FFC-87A1-197D121C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1C2FE1-7F95-F694-0499-B8C82131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8DBF0A-16D7-2666-100C-4C6D16BD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58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D5EA91-2F84-1D24-255B-B3A9AA46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AD370-D95B-0562-F5DE-5D7852B3C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79DEFE-ED17-8D91-09A4-DE22E8A1D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CAA053-31A5-6186-0965-680F6222E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ADEB5C-5A33-7FC9-308F-D497F111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DB2F5C-C263-C124-EE75-F01F5249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551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EC5C1-9E96-8F46-60EA-6DF8485D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F136D3-B805-0731-D1F0-F6155DC4A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30375B-5670-FCB6-F2DD-E6F458230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EE52E06-130E-FF14-3CFB-F4E1D8834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D89913-095E-8A8C-00AD-1FE2B1CFC5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08A40C-3772-E50F-5219-4C6D8A8A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94B7DE-821A-B911-47EE-2F2AFADA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BE98FC-FF8E-92DB-72AC-511B52A6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507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FD2DA8-F177-BB9B-C4FD-C469EDDB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0C01D7-9A88-DB90-06AA-CDB497DA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837087-4E89-4021-91C5-E6B10A80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A01287-8CC2-BBFC-D178-1FF9FBD1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518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FF6DE5-27E9-447F-5502-CA55092E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11171F-DD66-22BC-1EAF-B13E7353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5EE116-3515-CF9D-5C49-CE878FDA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9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01645F-618E-016B-CED6-500C541F1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B2457A-DD1C-99AC-ACA3-D6D80019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E9475B-E861-9A23-559F-56D14ABBB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A024A7-6860-561C-B52B-CC85130C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21E031-7109-ADC3-BF2A-B4DBB396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319AC4-E8A4-EC42-1CDC-F49ABA7E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68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6741EA-1185-3228-7BE8-F95D3CE7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B2516C-A2A0-B2E7-4827-B638E454C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51AD6D-2354-C204-FD60-C8E9621B7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A3DA00-79DF-69BE-F20B-D531EF86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B1D704-D68C-1BDC-86BD-4CACD10E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696170-1F80-D353-9E92-43DC615A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91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641C01-2379-86E4-15DE-E09CAEF0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637539-3CE7-E9F3-EC7A-2D75AB124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E738C3-E606-586E-289F-C92B878C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2F0DD32-C8FA-0731-A874-84701414E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DCE66E-DF42-2541-879F-0C40DA85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39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EBF466-7A09-C4AD-2A16-16B477178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9EA256-943A-D750-C151-643EF9698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D8E434-ACD7-0F34-49FE-1F239ADB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4DE99-5A16-632A-E395-8799C4F4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16C312-B291-B6A1-D47E-1D0E41FD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52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11EA1E-93CF-59BF-D447-A23CD3CC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514E34-7FBF-60F6-ABD8-6CC7F80BF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A51C9B-0A36-5A15-CA4F-4CE0B9661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617FF-B0DD-47EA-AC72-123D7216C09A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7E1E7D-01BA-A270-1FB5-91FA95262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44297F-9D90-C556-3FB5-7385864A4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AB450-2C1F-4477-8E88-5646F8863F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02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A12894-3653-0764-E1BA-2520F81207D8}"/>
              </a:ext>
            </a:extLst>
          </p:cNvPr>
          <p:cNvSpPr txBox="1"/>
          <p:nvPr/>
        </p:nvSpPr>
        <p:spPr>
          <a:xfrm>
            <a:off x="3053749" y="189653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一人暮らしにおすすめなペット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8D8353-3CFE-8B32-82B9-B269CC5BD1E8}"/>
              </a:ext>
            </a:extLst>
          </p:cNvPr>
          <p:cNvSpPr txBox="1"/>
          <p:nvPr/>
        </p:nvSpPr>
        <p:spPr>
          <a:xfrm>
            <a:off x="4910667" y="548640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25023</a:t>
            </a:r>
          </a:p>
          <a:p>
            <a:r>
              <a:rPr lang="ja-JP" altLang="en-US" dirty="0"/>
              <a:t>江田悠真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475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FF12B29-4BC4-4270-C8B2-534E3CF0257B}"/>
              </a:ext>
            </a:extLst>
          </p:cNvPr>
          <p:cNvSpPr txBox="1"/>
          <p:nvPr/>
        </p:nvSpPr>
        <p:spPr>
          <a:xfrm>
            <a:off x="270807" y="293637"/>
            <a:ext cx="387798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一人暮らしに癒しが欲しい</a:t>
            </a:r>
            <a:endParaRPr kumimoji="1" lang="en-US" altLang="ja-JP" sz="2400" dirty="0"/>
          </a:p>
          <a:p>
            <a:r>
              <a:rPr lang="ja-JP" altLang="en-US" sz="2400" dirty="0"/>
              <a:t>・・・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そんな時はペット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注意点</a:t>
            </a:r>
            <a:endParaRPr kumimoji="1" lang="en-US" altLang="ja-JP" sz="2400" dirty="0"/>
          </a:p>
          <a:p>
            <a:r>
              <a:rPr kumimoji="1" lang="ja-JP" altLang="en-US" sz="2400" dirty="0"/>
              <a:t>（</a:t>
            </a:r>
            <a:r>
              <a:rPr lang="ja-JP" altLang="en-US" sz="2400" dirty="0"/>
              <a:t>・</a:t>
            </a:r>
            <a:r>
              <a:rPr kumimoji="1" lang="ja-JP" altLang="en-US" sz="2400" dirty="0"/>
              <a:t>ペット可のアパート</a:t>
            </a:r>
            <a:endParaRPr kumimoji="1" lang="en-US" altLang="ja-JP" sz="2400" dirty="0"/>
          </a:p>
          <a:p>
            <a:r>
              <a:rPr lang="ja-JP" altLang="en-US" sz="2400" dirty="0"/>
              <a:t>　・うるさくない）</a:t>
            </a:r>
            <a:endParaRPr lang="en-US" altLang="ja-JP" sz="2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9826F1-695E-7D79-44FF-2F9101CBF235}"/>
              </a:ext>
            </a:extLst>
          </p:cNvPr>
          <p:cNvSpPr txBox="1"/>
          <p:nvPr/>
        </p:nvSpPr>
        <p:spPr>
          <a:xfrm>
            <a:off x="2328334" y="4706035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2800" dirty="0"/>
              <a:t>では次に、一人暮らしでも飼いやすいおすすめのペットを紹介します。</a:t>
            </a:r>
            <a:endParaRPr lang="ja-JP" altLang="en-US" sz="2800" dirty="0"/>
          </a:p>
        </p:txBody>
      </p:sp>
      <p:pic>
        <p:nvPicPr>
          <p:cNvPr id="9" name="図 8" descr="キンクマハムスター」の写真素材 | 406件の無料イラスト画像 | Adobe Stock">
            <a:extLst>
              <a:ext uri="{FF2B5EF4-FFF2-40B4-BE49-F238E27FC236}">
                <a16:creationId xmlns:a16="http://schemas.microsoft.com/office/drawing/2014/main" id="{61D26088-B466-9097-DF92-0EC6667EC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858" y="169334"/>
            <a:ext cx="3569335" cy="281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2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87DDE4-638D-C8DF-0FAA-15FA3B1F8445}"/>
              </a:ext>
            </a:extLst>
          </p:cNvPr>
          <p:cNvSpPr txBox="1"/>
          <p:nvPr/>
        </p:nvSpPr>
        <p:spPr>
          <a:xfrm>
            <a:off x="692918" y="312529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ハムスター</a:t>
            </a:r>
            <a:endParaRPr kumimoji="1" lang="en-US" altLang="ja-JP" dirty="0"/>
          </a:p>
          <a:p>
            <a:r>
              <a:rPr lang="ja-JP" altLang="en-US" dirty="0"/>
              <a:t>（平均寿命２～３年）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0F849B-6A71-2C04-B429-49674256A33F}"/>
              </a:ext>
            </a:extLst>
          </p:cNvPr>
          <p:cNvSpPr txBox="1"/>
          <p:nvPr/>
        </p:nvSpPr>
        <p:spPr>
          <a:xfrm>
            <a:off x="1164764" y="3105834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モルモット</a:t>
            </a:r>
            <a:endParaRPr kumimoji="1" lang="en-US" altLang="ja-JP" dirty="0"/>
          </a:p>
          <a:p>
            <a:r>
              <a:rPr lang="ja-JP" altLang="en-US" dirty="0"/>
              <a:t>（平均寿命</a:t>
            </a:r>
            <a:r>
              <a:rPr lang="en-US" altLang="ja-JP" dirty="0"/>
              <a:t>5</a:t>
            </a:r>
            <a:r>
              <a:rPr lang="ja-JP" altLang="en-US" dirty="0"/>
              <a:t>～７）</a:t>
            </a:r>
            <a:endParaRPr kumimoji="1" lang="ja-JP" altLang="en-US" dirty="0"/>
          </a:p>
        </p:txBody>
      </p:sp>
      <p:pic>
        <p:nvPicPr>
          <p:cNvPr id="2" name="図 1" descr="モルモット(イングリッシュ)03 | フリー素材ドットコム">
            <a:extLst>
              <a:ext uri="{FF2B5EF4-FFF2-40B4-BE49-F238E27FC236}">
                <a16:creationId xmlns:a16="http://schemas.microsoft.com/office/drawing/2014/main" id="{6CEB51D6-7F76-ACA3-2851-BD0C2C2DB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9" y="3851743"/>
            <a:ext cx="3443828" cy="2862322"/>
          </a:xfrm>
          <a:prstGeom prst="rect">
            <a:avLst/>
          </a:prstGeom>
        </p:spPr>
      </p:pic>
      <p:pic>
        <p:nvPicPr>
          <p:cNvPr id="10" name="図 9" descr="ハムスター」の8.2万点のロイヤリティフリー画像、写真素材、絵 | Shutterstock">
            <a:extLst>
              <a:ext uri="{FF2B5EF4-FFF2-40B4-BE49-F238E27FC236}">
                <a16:creationId xmlns:a16="http://schemas.microsoft.com/office/drawing/2014/main" id="{C3F92588-BCBA-8780-A618-8403752744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-228" b="8400"/>
          <a:stretch>
            <a:fillRect/>
          </a:stretch>
        </p:blipFill>
        <p:spPr>
          <a:xfrm>
            <a:off x="-59068" y="635695"/>
            <a:ext cx="3875974" cy="213817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DA653A-B214-FD7F-144D-5075640851BC}"/>
              </a:ext>
            </a:extLst>
          </p:cNvPr>
          <p:cNvSpPr txBox="1"/>
          <p:nvPr/>
        </p:nvSpPr>
        <p:spPr>
          <a:xfrm>
            <a:off x="3987851" y="635694"/>
            <a:ext cx="35629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ja-JP" b="1" dirty="0"/>
              <a:t>おすすめポイント</a:t>
            </a:r>
            <a:endParaRPr lang="ja-JP" altLang="ja-JP" dirty="0"/>
          </a:p>
          <a:p>
            <a:r>
              <a:rPr lang="ja-JP" altLang="ja-JP" dirty="0"/>
              <a:t>ケージで飼えるため、広いスペースがなくても大丈夫</a:t>
            </a:r>
          </a:p>
          <a:p>
            <a:r>
              <a:rPr lang="ja-JP" altLang="ja-JP" dirty="0"/>
              <a:t>鳴き声がほとんどなく、アパートやマンションでも飼いやすい</a:t>
            </a:r>
          </a:p>
          <a:p>
            <a:r>
              <a:rPr lang="ja-JP" altLang="ja-JP" dirty="0"/>
              <a:t>エサや掃除などのお世話は比較的簡単</a:t>
            </a:r>
          </a:p>
          <a:p>
            <a:r>
              <a:rPr lang="ja-JP" altLang="ja-JP" dirty="0"/>
              <a:t>かわいらしいしぐさに癒される</a:t>
            </a:r>
            <a:endParaRPr lang="en-US" altLang="ja-JP" dirty="0"/>
          </a:p>
          <a:p>
            <a:endParaRPr lang="en-US" altLang="ja-JP" dirty="0"/>
          </a:p>
          <a:p>
            <a:endParaRPr lang="ja-JP" altLang="ja-JP" dirty="0"/>
          </a:p>
          <a:p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331315C-28E8-E2CE-A17F-FF3B23C76255}"/>
              </a:ext>
            </a:extLst>
          </p:cNvPr>
          <p:cNvSpPr txBox="1"/>
          <p:nvPr/>
        </p:nvSpPr>
        <p:spPr>
          <a:xfrm>
            <a:off x="8111066" y="635695"/>
            <a:ext cx="40809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ja-JP" b="1" dirty="0"/>
              <a:t>	</a:t>
            </a:r>
            <a:r>
              <a:rPr lang="ja-JP" altLang="ja-JP" b="1" dirty="0"/>
              <a:t>注意点</a:t>
            </a:r>
            <a:endParaRPr lang="ja-JP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夜行性なので、夜に回し車で遊ぶことがあります。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ストレスに弱いため、優しく接することが大切です。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小さな体なので、脱走やケガに注意が必要です。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469B73-40FF-1070-B471-7F189D2CA49E}"/>
              </a:ext>
            </a:extLst>
          </p:cNvPr>
          <p:cNvSpPr txBox="1"/>
          <p:nvPr/>
        </p:nvSpPr>
        <p:spPr>
          <a:xfrm>
            <a:off x="3816906" y="3635231"/>
            <a:ext cx="4216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800" b="1" u="none" strike="noStrike" dirty="0">
                <a:effectLst/>
                <a:latin typeface="Arial" panose="020B0604020202020204" pitchFamily="34" charset="0"/>
              </a:rPr>
              <a:t>懐きやすい</a:t>
            </a:r>
            <a:r>
              <a:rPr lang="ja-JP" altLang="ja-JP" sz="1800" b="0" u="none" strike="noStrike" dirty="0">
                <a:effectLst/>
                <a:latin typeface="Arial" panose="020B0604020202020204" pitchFamily="34" charset="0"/>
              </a:rPr>
              <a:t>：感情表現が豊かで、飼い主の顔や足音を覚えて「プイプイ」と甘えて鳴く姿は大きな癒やしになります。</a:t>
            </a:r>
            <a:r>
              <a:rPr lang="ja-JP" altLang="ja-JP" sz="1800" b="1" u="none" strike="noStrike" dirty="0">
                <a:effectLst/>
                <a:latin typeface="Arial" panose="020B0604020202020204" pitchFamily="34" charset="0"/>
              </a:rPr>
              <a:t>夜行性ではない</a:t>
            </a:r>
            <a:r>
              <a:rPr lang="ja-JP" altLang="ja-JP" sz="1800" b="0" u="none" strike="noStrike" dirty="0">
                <a:effectLst/>
                <a:latin typeface="Arial" panose="020B0604020202020204" pitchFamily="34" charset="0"/>
              </a:rPr>
              <a:t>：ハムスターのような完全な夜行性ではなく、飼い主の生活リズム（朝・夕の活動）に合わせやすいため、夜中の物音で眠れないといったトラブルが少ないです。</a:t>
            </a:r>
            <a:r>
              <a:rPr lang="ja-JP" altLang="ja-JP" sz="1800" b="1" u="none" strike="noStrike" dirty="0">
                <a:effectLst/>
                <a:latin typeface="Arial" panose="020B0604020202020204" pitchFamily="34" charset="0"/>
              </a:rPr>
              <a:t>集合住宅でも安心</a:t>
            </a:r>
            <a:r>
              <a:rPr lang="ja-JP" altLang="ja-JP" sz="1800" b="0" u="none" strike="noStrike" dirty="0">
                <a:effectLst/>
                <a:latin typeface="Arial" panose="020B0604020202020204" pitchFamily="34" charset="0"/>
              </a:rPr>
              <a:t>：鳴き声は小さく、近隣トラブルになりにくいです。</a:t>
            </a:r>
            <a:endParaRPr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4B6EE3F-C3BB-884A-5BB3-0AFB0DBE7DA5}"/>
              </a:ext>
            </a:extLst>
          </p:cNvPr>
          <p:cNvSpPr txBox="1"/>
          <p:nvPr/>
        </p:nvSpPr>
        <p:spPr>
          <a:xfrm>
            <a:off x="8043333" y="3428999"/>
            <a:ext cx="40368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800" b="1" u="none" strike="noStrike" dirty="0">
                <a:effectLst/>
                <a:latin typeface="Arial" panose="020B0604020202020204" pitchFamily="34" charset="0"/>
              </a:rPr>
              <a:t>温度管理が必須</a:t>
            </a:r>
            <a:r>
              <a:rPr lang="ja-JP" altLang="ja-JP" sz="1800" b="0" u="none" strike="noStrike" dirty="0">
                <a:effectLst/>
                <a:latin typeface="Arial" panose="020B0604020202020204" pitchFamily="34" charset="0"/>
              </a:rPr>
              <a:t>：暑さや寒さに非常に弱いため、一年中エアコンをつけて室温を 20°C ~ 26°C に保つ必要があります。</a:t>
            </a:r>
            <a:r>
              <a:rPr lang="ja-JP" altLang="ja-JP" sz="1800" b="1" u="none" strike="noStrike" dirty="0">
                <a:effectLst/>
                <a:latin typeface="Arial" panose="020B0604020202020204" pitchFamily="34" charset="0"/>
              </a:rPr>
              <a:t>初期費用とランニングコスト</a:t>
            </a:r>
            <a:r>
              <a:rPr lang="ja-JP" altLang="ja-JP" sz="1800" b="0" u="none" strike="noStrike" dirty="0">
                <a:effectLst/>
                <a:latin typeface="Arial" panose="020B0604020202020204" pitchFamily="34" charset="0"/>
              </a:rPr>
              <a:t>：ケージなどの初期費用に加え、牧草（主食）、ペレット、トイレ砂代などで月々数千円の費用がかかります。</a:t>
            </a:r>
            <a:r>
              <a:rPr lang="ja-JP" altLang="ja-JP" sz="1800" b="1" u="none" strike="noStrike" dirty="0">
                <a:effectLst/>
                <a:latin typeface="Arial" panose="020B0604020202020204" pitchFamily="34" charset="0"/>
              </a:rPr>
              <a:t>毎日のお世話</a:t>
            </a:r>
            <a:r>
              <a:rPr lang="ja-JP" altLang="ja-JP" sz="1800" b="0" u="none" strike="noStrike" dirty="0">
                <a:effectLst/>
                <a:latin typeface="Arial" panose="020B0604020202020204" pitchFamily="34" charset="0"/>
              </a:rPr>
              <a:t>：ケージの掃除、新鮮な牧草や野菜（ビタミンC補給）の補充、水の交換を毎日行う必要があります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271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1EC640-EE01-3E76-092D-374F7D0D0653}"/>
              </a:ext>
            </a:extLst>
          </p:cNvPr>
          <p:cNvSpPr txBox="1"/>
          <p:nvPr/>
        </p:nvSpPr>
        <p:spPr>
          <a:xfrm>
            <a:off x="646922" y="110067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dirty="0"/>
              <a:t>ウサギ</a:t>
            </a:r>
            <a:endParaRPr lang="en-US" altLang="ja-JP" dirty="0"/>
          </a:p>
          <a:p>
            <a:r>
              <a:rPr lang="ja-JP" altLang="en-US" dirty="0"/>
              <a:t>（</a:t>
            </a:r>
            <a:r>
              <a:rPr lang="ja-JP" altLang="ja-JP" dirty="0"/>
              <a:t>寿命は</a:t>
            </a:r>
            <a:r>
              <a:rPr lang="ja-JP" altLang="en-US" dirty="0"/>
              <a:t>７～８年）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3ED6A6-FE10-11C7-3088-AE9D71AA941C}"/>
              </a:ext>
            </a:extLst>
          </p:cNvPr>
          <p:cNvSpPr txBox="1"/>
          <p:nvPr/>
        </p:nvSpPr>
        <p:spPr>
          <a:xfrm>
            <a:off x="740054" y="3407086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/>
              <a:t>ハリネズミ</a:t>
            </a:r>
            <a:endParaRPr kumimoji="1" lang="en-US" altLang="ja-JP" dirty="0"/>
          </a:p>
          <a:p>
            <a:r>
              <a:rPr lang="ja-JP" altLang="en-US" dirty="0"/>
              <a:t>（寿命３年～５年）</a:t>
            </a:r>
            <a:endParaRPr kumimoji="1" lang="ja-JP" altLang="en-US" dirty="0"/>
          </a:p>
        </p:txBody>
      </p:sp>
      <p:pic>
        <p:nvPicPr>
          <p:cNvPr id="10" name="図 9" descr="白い毛布の上で座り、カメラを見つめるハリネズミの写真素材 - フリー素材ぱくたそ">
            <a:extLst>
              <a:ext uri="{FF2B5EF4-FFF2-40B4-BE49-F238E27FC236}">
                <a16:creationId xmlns:a16="http://schemas.microsoft.com/office/drawing/2014/main" id="{5DEBE95D-337D-514F-DFB3-1C0EBF9EF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1502"/>
            <a:ext cx="3923242" cy="2826498"/>
          </a:xfrm>
          <a:prstGeom prst="rect">
            <a:avLst/>
          </a:prstGeom>
        </p:spPr>
      </p:pic>
      <p:pic>
        <p:nvPicPr>
          <p:cNvPr id="4" name="図 3" descr="うさぎのこどもの写真素材｜写真素材なら「写真AC」無料（フリー）ダウンロードOK">
            <a:extLst>
              <a:ext uri="{FF2B5EF4-FFF2-40B4-BE49-F238E27FC236}">
                <a16:creationId xmlns:a16="http://schemas.microsoft.com/office/drawing/2014/main" id="{A65D4AB6-2A37-06A6-B1F8-CE601D304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56398"/>
            <a:ext cx="3923243" cy="265068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1864025-00BB-D01C-C57A-A089457A354C}"/>
              </a:ext>
            </a:extLst>
          </p:cNvPr>
          <p:cNvSpPr txBox="1"/>
          <p:nvPr/>
        </p:nvSpPr>
        <p:spPr>
          <a:xfrm>
            <a:off x="4191000" y="433232"/>
            <a:ext cx="33104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b="1" dirty="0"/>
              <a:t>おすすめポイント</a:t>
            </a:r>
            <a:endParaRPr lang="ja-JP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鳴き声がほとんどなく、アパートやマンションでも飼いやすい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ふわふわした見た目やかわいらしいしぐさに癒される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トイレを覚える子も多く、室内で飼いやすい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人に慣れると寄ってきたり、なでられるのを好む子もいる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8C0DDE4-7B39-57F9-ACBD-2250FAFE8102}"/>
              </a:ext>
            </a:extLst>
          </p:cNvPr>
          <p:cNvSpPr txBox="1"/>
          <p:nvPr/>
        </p:nvSpPr>
        <p:spPr>
          <a:xfrm>
            <a:off x="8534399" y="433232"/>
            <a:ext cx="29379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b="1" dirty="0"/>
              <a:t>注意点</a:t>
            </a:r>
            <a:endParaRPr lang="ja-JP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毎日、新鮮な牧草や水を用意する必要がある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ケーブルなどをかじることがあるため、部屋の安全対策が必要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/>
              <a:t>運動不足にならないように、部屋で遊ぶ時間を作ることが大切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3010766-F02E-7582-579F-FD099F5C13C6}"/>
              </a:ext>
            </a:extLst>
          </p:cNvPr>
          <p:cNvSpPr txBox="1"/>
          <p:nvPr/>
        </p:nvSpPr>
        <p:spPr>
          <a:xfrm>
            <a:off x="4013200" y="4053417"/>
            <a:ext cx="34882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/>
              <a:t>ケージで飼えるため、大きなスペースが必要ない鳴き声がほとんどなく、集合住宅でも飼いやすい見た目がかわいらしく、しぐさに癒される比較的においが少なく、室内でも飼育しやすい</a:t>
            </a:r>
            <a:endParaRPr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E599B3-9B58-3120-326A-85F4D68F9123}"/>
              </a:ext>
            </a:extLst>
          </p:cNvPr>
          <p:cNvSpPr txBox="1"/>
          <p:nvPr/>
        </p:nvSpPr>
        <p:spPr>
          <a:xfrm>
            <a:off x="8259232" y="4031502"/>
            <a:ext cx="34882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/>
              <a:t>夜行性のため、夜に活動することが多い驚くと針を立てるので、優しく接することが大切適切な室温を保ち、快適な環境を整える必要がある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834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4A2DA2-A126-AD79-6F2E-63ACCB0224FD}"/>
              </a:ext>
            </a:extLst>
          </p:cNvPr>
          <p:cNvSpPr txBox="1"/>
          <p:nvPr/>
        </p:nvSpPr>
        <p:spPr>
          <a:xfrm>
            <a:off x="3962399" y="1565288"/>
            <a:ext cx="5211683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/>
              <a:t>今紹介した動物たち以外にも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飼える動物はたくさんいます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（例　インコ、熱帯魚、昆虫、亀など）</a:t>
            </a:r>
            <a:endParaRPr kumimoji="1" lang="en-US" altLang="ja-JP" sz="2000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lang="en-US" altLang="ja-JP" dirty="0"/>
          </a:p>
          <a:p>
            <a:pPr algn="ctr"/>
            <a:endParaRPr kumimoji="1" lang="en-US" altLang="ja-JP" dirty="0"/>
          </a:p>
          <a:p>
            <a:pPr algn="ctr"/>
            <a:r>
              <a:rPr kumimoji="1" lang="ja-JP" altLang="en-US" sz="2800" dirty="0"/>
              <a:t>ぜひ一人暮らしをする際</a:t>
            </a:r>
            <a:endParaRPr kumimoji="1" lang="en-US" altLang="ja-JP" sz="2800" dirty="0"/>
          </a:p>
          <a:p>
            <a:pPr algn="ctr"/>
            <a:r>
              <a:rPr kumimoji="1" lang="ja-JP" altLang="en-US" sz="2800" dirty="0"/>
              <a:t>買ってみてはいかがでしょうか</a:t>
            </a:r>
          </a:p>
        </p:txBody>
      </p:sp>
      <p:pic>
        <p:nvPicPr>
          <p:cNvPr id="2" name="図 1" descr="インコ」の写真素材 | 15,229件の無料イラスト画像 | Adobe Stock">
            <a:extLst>
              <a:ext uri="{FF2B5EF4-FFF2-40B4-BE49-F238E27FC236}">
                <a16:creationId xmlns:a16="http://schemas.microsoft.com/office/drawing/2014/main" id="{C160BE1B-C404-F6A2-2451-2CB863C7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38" y="361976"/>
            <a:ext cx="3278296" cy="2504440"/>
          </a:xfrm>
          <a:prstGeom prst="rect">
            <a:avLst/>
          </a:prstGeom>
        </p:spPr>
      </p:pic>
      <p:pic>
        <p:nvPicPr>
          <p:cNvPr id="3" name="図 2" descr="熱帯魚」の写真素材 | 392,839件の無料イラスト画像 | Adobe Stock">
            <a:extLst>
              <a:ext uri="{FF2B5EF4-FFF2-40B4-BE49-F238E27FC236}">
                <a16:creationId xmlns:a16="http://schemas.microsoft.com/office/drawing/2014/main" id="{C234DF30-6270-4F06-82F5-066E1E3BC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182" y="361976"/>
            <a:ext cx="3161818" cy="2406624"/>
          </a:xfrm>
          <a:prstGeom prst="rect">
            <a:avLst/>
          </a:prstGeom>
        </p:spPr>
      </p:pic>
      <p:pic>
        <p:nvPicPr>
          <p:cNvPr id="5" name="図 4" descr="秋の虫イラストの検索結果 - Yahoo!きっず検索">
            <a:extLst>
              <a:ext uri="{FF2B5EF4-FFF2-40B4-BE49-F238E27FC236}">
                <a16:creationId xmlns:a16="http://schemas.microsoft.com/office/drawing/2014/main" id="{4A2AF75D-BBE9-52F8-B219-408CB5007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38" y="3429000"/>
            <a:ext cx="3278296" cy="2644245"/>
          </a:xfrm>
          <a:prstGeom prst="rect">
            <a:avLst/>
          </a:prstGeom>
        </p:spPr>
      </p:pic>
      <p:pic>
        <p:nvPicPr>
          <p:cNvPr id="6" name="図 5" descr="亀（かめ・カメ）のイラスト/無料イラスト">
            <a:extLst>
              <a:ext uri="{FF2B5EF4-FFF2-40B4-BE49-F238E27FC236}">
                <a16:creationId xmlns:a16="http://schemas.microsoft.com/office/drawing/2014/main" id="{20CB619F-8EAF-6D19-4033-C14B72CC1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0182" y="3750733"/>
            <a:ext cx="3077151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3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7A8A38-92BD-768E-F65A-DBE585FB1E1E}"/>
              </a:ext>
            </a:extLst>
          </p:cNvPr>
          <p:cNvSpPr txBox="1"/>
          <p:nvPr/>
        </p:nvSpPr>
        <p:spPr>
          <a:xfrm>
            <a:off x="3048000" y="251473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ja-JP" sz="2800" b="1" dirty="0"/>
              <a:t>飼う前に考えたいこと</a:t>
            </a:r>
            <a:endParaRPr lang="ja-JP" altLang="ja-JP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sz="2800" dirty="0"/>
              <a:t>ペット可の物件か確認する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sz="2800" dirty="0"/>
              <a:t>毎日お世話を続けられるか考える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sz="2800" dirty="0"/>
              <a:t>エサ代や病院代などの費用を準備する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sz="2800" dirty="0"/>
              <a:t>最後まで責任を持って飼う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3C7B99-B6B2-2F99-60B7-DCBF550B0B8B}"/>
              </a:ext>
            </a:extLst>
          </p:cNvPr>
          <p:cNvSpPr txBox="1"/>
          <p:nvPr/>
        </p:nvSpPr>
        <p:spPr>
          <a:xfrm>
            <a:off x="3048000" y="382114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800" b="1" dirty="0"/>
              <a:t>最後に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3E0CFE7-A5C9-F915-E184-901F3DCBFCF3}"/>
              </a:ext>
            </a:extLst>
          </p:cNvPr>
          <p:cNvSpPr txBox="1"/>
          <p:nvPr/>
        </p:nvSpPr>
        <p:spPr>
          <a:xfrm>
            <a:off x="3048000" y="4344369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ja-JP" sz="2800" dirty="0"/>
              <a:t>ペットは私たちに癒しを与えてくれる大切な存在です。しかし、命を預かる責任もあります。自分の生活に合ったペットを選び、最後まで大切に育てることが大切です</a:t>
            </a:r>
            <a:r>
              <a:rPr lang="ja-JP" altLang="ja-JP" dirty="0"/>
              <a:t>。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6034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DBC5A5-8770-5EE6-232E-ACDC0E1189A8}"/>
              </a:ext>
            </a:extLst>
          </p:cNvPr>
          <p:cNvSpPr txBox="1"/>
          <p:nvPr/>
        </p:nvSpPr>
        <p:spPr>
          <a:xfrm>
            <a:off x="3131086" y="2998113"/>
            <a:ext cx="59298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dirty="0"/>
          </a:p>
          <a:p>
            <a:r>
              <a:rPr kumimoji="1" lang="ja-JP" altLang="en-US" sz="3200" dirty="0"/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156519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608</Words>
  <Application>Microsoft Office PowerPoint</Application>
  <PresentationFormat>ワイド画面</PresentationFormat>
  <Paragraphs>67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江田　悠真</dc:creator>
  <cp:lastModifiedBy>江田　悠真</cp:lastModifiedBy>
  <cp:revision>6</cp:revision>
  <dcterms:created xsi:type="dcterms:W3CDTF">2026-07-05T14:36:55Z</dcterms:created>
  <dcterms:modified xsi:type="dcterms:W3CDTF">2026-07-06T17:56:37Z</dcterms:modified>
</cp:coreProperties>
</file>