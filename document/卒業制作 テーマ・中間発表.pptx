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8" r:id="rId3"/>
    <p:sldId id="257" r:id="rId4"/>
    <p:sldId id="260" r:id="rId5"/>
    <p:sldId id="263" r:id="rId6"/>
    <p:sldId id="269" r:id="rId7"/>
    <p:sldId id="261" r:id="rId8"/>
    <p:sldId id="264" r:id="rId9"/>
    <p:sldId id="265" r:id="rId10"/>
    <p:sldId id="268" r:id="rId11"/>
    <p:sldId id="267" r:id="rId12"/>
    <p:sldId id="262"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 roundtripDataSignature="AMtx7miZ4l44vHPzKZImSivDlVkC4Y8KP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15565c702ff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g15565c702f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5565c702ff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g15565c702ff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15565c702ff_2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g15565c702ff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15565c702ff_2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8" name="Google Shape;118;g15565c702ff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1"/>
        <p:cNvGrpSpPr/>
        <p:nvPr/>
      </p:nvGrpSpPr>
      <p:grpSpPr>
        <a:xfrm>
          <a:off x="0" y="0"/>
          <a:ext cx="0" cy="0"/>
          <a:chOff x="0" y="0"/>
          <a:chExt cx="0" cy="0"/>
        </a:xfrm>
      </p:grpSpPr>
      <p:sp>
        <p:nvSpPr>
          <p:cNvPr id="12" name="Google Shape;12;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7"/>
        <p:cNvGrpSpPr/>
        <p:nvPr/>
      </p:nvGrpSpPr>
      <p:grpSpPr>
        <a:xfrm>
          <a:off x="0" y="0"/>
          <a:ext cx="0" cy="0"/>
          <a:chOff x="0" y="0"/>
          <a:chExt cx="0" cy="0"/>
        </a:xfrm>
      </p:grpSpPr>
      <p:sp>
        <p:nvSpPr>
          <p:cNvPr id="18" name="Google Shape;1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3"/>
        <p:cNvGrpSpPr/>
        <p:nvPr/>
      </p:nvGrpSpPr>
      <p:grpSpPr>
        <a:xfrm>
          <a:off x="0" y="0"/>
          <a:ext cx="0" cy="0"/>
          <a:chOff x="0" y="0"/>
          <a:chExt cx="0" cy="0"/>
        </a:xfrm>
      </p:grpSpPr>
      <p:sp>
        <p:nvSpPr>
          <p:cNvPr id="24" name="Google Shape;24;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0"/>
        <p:cNvGrpSpPr/>
        <p:nvPr/>
      </p:nvGrpSpPr>
      <p:grpSpPr>
        <a:xfrm>
          <a:off x="0" y="0"/>
          <a:ext cx="0" cy="0"/>
          <a:chOff x="0" y="0"/>
          <a:chExt cx="0" cy="0"/>
        </a:xfrm>
      </p:grpSpPr>
      <p:sp>
        <p:nvSpPr>
          <p:cNvPr id="51" name="Google Shape;5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54"/>
        <p:cNvGrpSpPr/>
        <p:nvPr/>
      </p:nvGrpSpPr>
      <p:grpSpPr>
        <a:xfrm>
          <a:off x="0" y="0"/>
          <a:ext cx="0" cy="0"/>
          <a:chOff x="0" y="0"/>
          <a:chExt cx="0" cy="0"/>
        </a:xfrm>
      </p:grpSpPr>
      <p:sp>
        <p:nvSpPr>
          <p:cNvPr id="55" name="Google Shape;5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a:spLocks noGrp="1"/>
          </p:cNvSpPr>
          <p:nvPr>
            <p:ph type="pic" idx="2"/>
          </p:nvPr>
        </p:nvSpPr>
        <p:spPr>
          <a:xfrm>
            <a:off x="5183188" y="987425"/>
            <a:ext cx="6172200" cy="4873625"/>
          </a:xfrm>
          <a:prstGeom prst="rect">
            <a:avLst/>
          </a:prstGeom>
          <a:noFill/>
          <a:ln>
            <a:noFill/>
          </a:ln>
        </p:spPr>
      </p:sp>
      <p:sp>
        <p:nvSpPr>
          <p:cNvPr id="64" name="Google Shape;64;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Arial"/>
              <a:buNone/>
            </a:pPr>
            <a:r>
              <a:rPr lang="ja-JP"/>
              <a:t>卒業制作</a:t>
            </a:r>
            <a:br>
              <a:rPr lang="ja-JP"/>
            </a:br>
            <a:r>
              <a:rPr lang="ja-JP"/>
              <a:t>テーマ・中間発表</a:t>
            </a:r>
            <a:endParaRPr/>
          </a:p>
        </p:txBody>
      </p:sp>
      <p:sp>
        <p:nvSpPr>
          <p:cNvPr id="85" name="Google Shape;85;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Clr>
                <a:schemeClr val="dk1"/>
              </a:buClr>
              <a:buSzPts val="1800"/>
              <a:buNone/>
            </a:pPr>
            <a:r>
              <a:rPr lang="ja-JP" dirty="0"/>
              <a:t>学籍番号</a:t>
            </a:r>
            <a:r>
              <a:rPr lang="en-US" altLang="ja-JP" dirty="0"/>
              <a:t>25023</a:t>
            </a:r>
            <a:r>
              <a:rPr lang="ja-JP" dirty="0"/>
              <a:t>名前</a:t>
            </a:r>
            <a:r>
              <a:rPr lang="ja-JP" altLang="en-US" dirty="0"/>
              <a:t>江田悠真</a:t>
            </a:r>
            <a:endParaRP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g15565c702ff_0_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ja-JP" dirty="0"/>
              <a:t>目次</a:t>
            </a:r>
            <a:endParaRPr dirty="0"/>
          </a:p>
        </p:txBody>
      </p:sp>
      <p:sp>
        <p:nvSpPr>
          <p:cNvPr id="97" name="Google Shape;97;g15565c702ff_0_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228600" lvl="0" indent="-50800" algn="ctr">
              <a:lnSpc>
                <a:spcPct val="200000"/>
              </a:lnSpc>
              <a:spcBef>
                <a:spcPts val="0"/>
              </a:spcBef>
              <a:buSzPts val="2800"/>
              <a:buNone/>
            </a:pPr>
            <a:r>
              <a:rPr lang="ja-JP" altLang="en-US" dirty="0"/>
              <a:t>目的・背景</a:t>
            </a:r>
            <a:endParaRPr lang="en-US" altLang="ja-JP" dirty="0"/>
          </a:p>
          <a:p>
            <a:pPr marL="228600" lvl="0" indent="-50800" algn="ctr">
              <a:lnSpc>
                <a:spcPct val="200000"/>
              </a:lnSpc>
              <a:spcBef>
                <a:spcPts val="0"/>
              </a:spcBef>
              <a:buSzPts val="2800"/>
              <a:buNone/>
            </a:pPr>
            <a:r>
              <a:rPr lang="ja-JP" altLang="en-US" dirty="0"/>
              <a:t>作品・研究の概要</a:t>
            </a:r>
            <a:endParaRPr lang="en-US" altLang="ja-JP" dirty="0"/>
          </a:p>
          <a:p>
            <a:pPr marL="228600" lvl="0" indent="-50800" algn="ctr">
              <a:lnSpc>
                <a:spcPct val="200000"/>
              </a:lnSpc>
              <a:spcBef>
                <a:spcPts val="0"/>
              </a:spcBef>
              <a:buSzPts val="2800"/>
              <a:buNone/>
            </a:pPr>
            <a:r>
              <a:rPr lang="ja-JP" altLang="en-US" dirty="0"/>
              <a:t>今後の流れ</a:t>
            </a:r>
            <a:endParaRPr lang="en-US" altLang="ja-JP" dirty="0"/>
          </a:p>
          <a:p>
            <a:pPr marL="228600" lvl="0" indent="-50800" algn="ctr">
              <a:lnSpc>
                <a:spcPct val="200000"/>
              </a:lnSpc>
              <a:spcBef>
                <a:spcPts val="0"/>
              </a:spcBef>
              <a:buSzPts val="2800"/>
              <a:buNone/>
            </a:pPr>
            <a:r>
              <a:rPr lang="ja-JP" altLang="en-US" dirty="0"/>
              <a:t>制作・研究方法</a:t>
            </a:r>
            <a:endParaRPr lang="en-US" altLang="ja-JP" dirty="0"/>
          </a:p>
          <a:p>
            <a:pPr marL="228600" lvl="0" indent="-50800">
              <a:spcBef>
                <a:spcPts val="0"/>
              </a:spcBef>
              <a:buSzPts val="2800"/>
              <a:buNone/>
            </a:pPr>
            <a:endParaRPr lang="en-US" altLang="ja-JP"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365125"/>
            <a:ext cx="10515600" cy="1325563"/>
          </a:xfrm>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Arial"/>
              <a:buNone/>
            </a:pPr>
            <a:r>
              <a:rPr lang="ja-JP" dirty="0"/>
              <a:t>テーマ</a:t>
            </a:r>
            <a:r>
              <a:rPr lang="ja-JP" altLang="en-US" dirty="0"/>
              <a:t>１日田市の魅力</a:t>
            </a:r>
          </a:p>
        </p:txBody>
      </p:sp>
      <p:sp>
        <p:nvSpPr>
          <p:cNvPr id="4" name="テキスト ボックス 3">
            <a:extLst>
              <a:ext uri="{FF2B5EF4-FFF2-40B4-BE49-F238E27FC236}">
                <a16:creationId xmlns:a16="http://schemas.microsoft.com/office/drawing/2014/main" id="{2AEBA4D4-BBF0-ACA9-663F-F662E48C82C3}"/>
              </a:ext>
            </a:extLst>
          </p:cNvPr>
          <p:cNvSpPr txBox="1"/>
          <p:nvPr/>
        </p:nvSpPr>
        <p:spPr>
          <a:xfrm>
            <a:off x="3048000" y="2274838"/>
            <a:ext cx="6096000" cy="2308324"/>
          </a:xfrm>
          <a:prstGeom prst="rect">
            <a:avLst/>
          </a:prstGeom>
          <a:noFill/>
        </p:spPr>
        <p:txBody>
          <a:bodyPr wrap="square">
            <a:spAutoFit/>
          </a:bodyPr>
          <a:lstStyle/>
          <a:p>
            <a:pPr marL="177800" algn="ctr" rtl="0">
              <a:buNone/>
            </a:pPr>
            <a:r>
              <a:rPr lang="ja-JP" altLang="ja-JP" sz="1600" b="1" i="0" u="none" strike="noStrike" dirty="0">
                <a:solidFill>
                  <a:srgbClr val="000000"/>
                </a:solidFill>
                <a:effectLst/>
                <a:latin typeface="Arial" panose="020B0604020202020204" pitchFamily="34" charset="0"/>
              </a:rPr>
              <a:t>目的　</a:t>
            </a:r>
            <a:endParaRPr lang="ja-JP" altLang="ja-JP" b="0" dirty="0">
              <a:effectLst/>
            </a:endParaRPr>
          </a:p>
          <a:p>
            <a:pPr marL="177800" rtl="0">
              <a:buNone/>
            </a:pPr>
            <a:r>
              <a:rPr lang="ja-JP" altLang="ja-JP" sz="1400" b="0" i="0" u="none" strike="noStrike" dirty="0">
                <a:solidFill>
                  <a:srgbClr val="000000"/>
                </a:solidFill>
                <a:effectLst/>
                <a:latin typeface="Arial" panose="020B0604020202020204" pitchFamily="34" charset="0"/>
              </a:rPr>
              <a:t>日田市の歴史や文化、グルメなど多くの人に知ってもらい観光や地域への関心を高める</a:t>
            </a:r>
            <a:endParaRPr lang="ja-JP" altLang="ja-JP" b="0" dirty="0">
              <a:effectLst/>
            </a:endParaRPr>
          </a:p>
          <a:p>
            <a:pPr>
              <a:buNone/>
            </a:pPr>
            <a:br>
              <a:rPr lang="ja-JP" altLang="ja-JP" b="0" dirty="0">
                <a:effectLst/>
              </a:rPr>
            </a:br>
            <a:endParaRPr lang="ja-JP" altLang="ja-JP" b="0" dirty="0">
              <a:effectLst/>
            </a:endParaRPr>
          </a:p>
          <a:p>
            <a:pPr marL="177800" indent="-50800" algn="ctr" rtl="0">
              <a:buNone/>
            </a:pPr>
            <a:r>
              <a:rPr lang="ja-JP" altLang="ja-JP" sz="1600" b="1" i="0" u="none" strike="noStrike" dirty="0">
                <a:solidFill>
                  <a:srgbClr val="000000"/>
                </a:solidFill>
                <a:effectLst/>
                <a:latin typeface="Arial" panose="020B0604020202020204" pitchFamily="34" charset="0"/>
              </a:rPr>
              <a:t>背景 </a:t>
            </a:r>
            <a:endParaRPr lang="ja-JP" altLang="ja-JP" b="0" dirty="0">
              <a:effectLst/>
            </a:endParaRPr>
          </a:p>
          <a:p>
            <a:pPr marL="177800" indent="-50800" rtl="0">
              <a:buNone/>
            </a:pPr>
            <a:r>
              <a:rPr lang="ja-JP" altLang="ja-JP" sz="1400" b="0" i="0" u="none" strike="noStrike" dirty="0">
                <a:solidFill>
                  <a:srgbClr val="000000"/>
                </a:solidFill>
                <a:effectLst/>
                <a:latin typeface="Arial" panose="020B0604020202020204" pitchFamily="34" charset="0"/>
              </a:rPr>
              <a:t>歴史文化だけでなく、食や産業観光、アニメ・漫画をきっかけとした観光など、新たな魅力の発信にも取り組んでいる</a:t>
            </a:r>
            <a:endParaRPr lang="ja-JP" altLang="ja-JP" b="0" dirty="0">
              <a:effectLst/>
            </a:endParaRPr>
          </a:p>
          <a:p>
            <a:pPr>
              <a:buNone/>
            </a:pPr>
            <a:br>
              <a:rPr lang="ja-JP" altLang="ja-JP" dirty="0"/>
            </a:br>
            <a:endParaRPr lang="ja-JP" altLang="en-US" dirty="0"/>
          </a:p>
        </p:txBody>
      </p:sp>
      <p:sp>
        <p:nvSpPr>
          <p:cNvPr id="6" name="テキスト ボックス 5">
            <a:extLst>
              <a:ext uri="{FF2B5EF4-FFF2-40B4-BE49-F238E27FC236}">
                <a16:creationId xmlns:a16="http://schemas.microsoft.com/office/drawing/2014/main" id="{54965278-76A7-2407-20C4-27C4DE1041EB}"/>
              </a:ext>
            </a:extLst>
          </p:cNvPr>
          <p:cNvSpPr txBox="1"/>
          <p:nvPr/>
        </p:nvSpPr>
        <p:spPr>
          <a:xfrm>
            <a:off x="2962083" y="5167312"/>
            <a:ext cx="6096000" cy="1169551"/>
          </a:xfrm>
          <a:prstGeom prst="rect">
            <a:avLst/>
          </a:prstGeom>
          <a:noFill/>
        </p:spPr>
        <p:txBody>
          <a:bodyPr wrap="square">
            <a:spAutoFit/>
          </a:bodyPr>
          <a:lstStyle/>
          <a:p>
            <a:pPr algn="ctr" rtl="0">
              <a:buNone/>
            </a:pPr>
            <a:r>
              <a:rPr lang="ja-JP" altLang="ja-JP" sz="1400" b="0" i="0" u="none" strike="noStrike" dirty="0">
                <a:solidFill>
                  <a:srgbClr val="000000"/>
                </a:solidFill>
                <a:effectLst/>
                <a:latin typeface="Arial" panose="020B0604020202020204" pitchFamily="34" charset="0"/>
              </a:rPr>
              <a:t>20～40代の国内観光客</a:t>
            </a:r>
            <a:endParaRPr lang="ja-JP" altLang="ja-JP" b="0" dirty="0">
              <a:effectLst/>
            </a:endParaRPr>
          </a:p>
          <a:p>
            <a:pPr algn="ctr"/>
            <a:r>
              <a:rPr lang="ja-JP" altLang="ja-JP" dirty="0"/>
              <a:t>日田市を初めて訪れる人</a:t>
            </a:r>
            <a:r>
              <a:rPr lang="en-US" altLang="ja-JP" dirty="0"/>
              <a:t> </a:t>
            </a:r>
            <a:endParaRPr lang="ja-JP" altLang="ja-JP" dirty="0"/>
          </a:p>
          <a:p>
            <a:pPr algn="ctr"/>
            <a:r>
              <a:rPr lang="ja-JP" altLang="ja-JP" dirty="0"/>
              <a:t>進撃の巨人が好きな人</a:t>
            </a:r>
          </a:p>
          <a:p>
            <a:pPr>
              <a:buNone/>
            </a:pPr>
            <a:br>
              <a:rPr lang="ja-JP" altLang="ja-JP" dirty="0"/>
            </a:br>
            <a:endParaRPr lang="ja-JP" altLang="en-US" dirty="0"/>
          </a:p>
        </p:txBody>
      </p:sp>
      <p:sp>
        <p:nvSpPr>
          <p:cNvPr id="9" name="テキスト ボックス 8">
            <a:extLst>
              <a:ext uri="{FF2B5EF4-FFF2-40B4-BE49-F238E27FC236}">
                <a16:creationId xmlns:a16="http://schemas.microsoft.com/office/drawing/2014/main" id="{B829B4C2-35D1-6331-9C5E-2FF710E30939}"/>
              </a:ext>
            </a:extLst>
          </p:cNvPr>
          <p:cNvSpPr txBox="1"/>
          <p:nvPr/>
        </p:nvSpPr>
        <p:spPr>
          <a:xfrm>
            <a:off x="3048000" y="4668335"/>
            <a:ext cx="6096000" cy="738664"/>
          </a:xfrm>
          <a:prstGeom prst="rect">
            <a:avLst/>
          </a:prstGeom>
          <a:noFill/>
        </p:spPr>
        <p:txBody>
          <a:bodyPr wrap="square">
            <a:spAutoFit/>
          </a:bodyPr>
          <a:lstStyle/>
          <a:p>
            <a:pPr algn="ctr" rtl="0">
              <a:buNone/>
            </a:pPr>
            <a:r>
              <a:rPr lang="ja-JP" altLang="ja-JP" sz="1400" b="1" i="0" u="none" strike="noStrike" dirty="0">
                <a:solidFill>
                  <a:srgbClr val="000000"/>
                </a:solidFill>
                <a:effectLst/>
                <a:latin typeface="Times New Roman" panose="02020603050405020304" pitchFamily="18" charset="0"/>
              </a:rPr>
              <a:t>ターゲット</a:t>
            </a:r>
            <a:r>
              <a:rPr lang="ja-JP" altLang="ja-JP" sz="1400" b="1" i="0" u="none" strike="noStrike" dirty="0">
                <a:solidFill>
                  <a:srgbClr val="000000"/>
                </a:solidFill>
                <a:effectLst/>
                <a:latin typeface="Arial" panose="020B0604020202020204" pitchFamily="34" charset="0"/>
              </a:rPr>
              <a:t> </a:t>
            </a:r>
            <a:endParaRPr lang="ja-JP" altLang="ja-JP" b="0" dirty="0">
              <a:effectLst/>
            </a:endParaRPr>
          </a:p>
          <a:p>
            <a:pPr>
              <a:buNone/>
            </a:pPr>
            <a:br>
              <a:rPr lang="ja-JP" altLang="ja-JP" dirty="0"/>
            </a:br>
            <a:endParaRPr lang="ja-JP"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28308880-E94F-E883-3D66-9B20BDF72C12}"/>
              </a:ext>
            </a:extLst>
          </p:cNvPr>
          <p:cNvSpPr txBox="1"/>
          <p:nvPr/>
        </p:nvSpPr>
        <p:spPr>
          <a:xfrm>
            <a:off x="550333" y="558856"/>
            <a:ext cx="6096000" cy="769441"/>
          </a:xfrm>
          <a:prstGeom prst="rect">
            <a:avLst/>
          </a:prstGeom>
          <a:noFill/>
        </p:spPr>
        <p:txBody>
          <a:bodyPr wrap="square">
            <a:spAutoFit/>
          </a:bodyPr>
          <a:lstStyle/>
          <a:p>
            <a:r>
              <a:rPr lang="ja-JP" altLang="ja-JP" sz="4400" b="0" i="0" u="none" strike="noStrike" dirty="0">
                <a:solidFill>
                  <a:srgbClr val="000000"/>
                </a:solidFill>
                <a:effectLst/>
                <a:latin typeface="Arial" panose="020B0604020202020204" pitchFamily="34" charset="0"/>
              </a:rPr>
              <a:t>　　</a:t>
            </a:r>
            <a:r>
              <a:rPr lang="ja-JP" altLang="ja-JP" sz="4400" b="1" i="0" u="none" strike="noStrike" dirty="0">
                <a:solidFill>
                  <a:srgbClr val="000000"/>
                </a:solidFill>
                <a:effectLst/>
                <a:latin typeface="Arial" panose="020B0604020202020204" pitchFamily="34" charset="0"/>
              </a:rPr>
              <a:t>内容</a:t>
            </a:r>
            <a:endParaRPr lang="ja-JP" altLang="en-US" sz="4400" dirty="0"/>
          </a:p>
        </p:txBody>
      </p:sp>
      <p:sp>
        <p:nvSpPr>
          <p:cNvPr id="9" name="テキスト ボックス 8">
            <a:extLst>
              <a:ext uri="{FF2B5EF4-FFF2-40B4-BE49-F238E27FC236}">
                <a16:creationId xmlns:a16="http://schemas.microsoft.com/office/drawing/2014/main" id="{4B22BB15-079F-58D8-BC37-C1EDC4F26E72}"/>
              </a:ext>
            </a:extLst>
          </p:cNvPr>
          <p:cNvSpPr txBox="1"/>
          <p:nvPr/>
        </p:nvSpPr>
        <p:spPr>
          <a:xfrm>
            <a:off x="0" y="2082605"/>
            <a:ext cx="6096000" cy="4985980"/>
          </a:xfrm>
          <a:prstGeom prst="rect">
            <a:avLst/>
          </a:prstGeom>
          <a:noFill/>
        </p:spPr>
        <p:txBody>
          <a:bodyPr wrap="square">
            <a:spAutoFit/>
          </a:bodyPr>
          <a:lstStyle/>
          <a:p>
            <a:pPr algn="ctr" rtl="0">
              <a:buNone/>
            </a:pPr>
            <a:r>
              <a:rPr lang="ja-JP" altLang="ja-JP" sz="2000" b="0" i="0" u="none" strike="noStrike" dirty="0">
                <a:solidFill>
                  <a:srgbClr val="000000"/>
                </a:solidFill>
                <a:effectLst/>
                <a:latin typeface="Arial" panose="020B0604020202020204" pitchFamily="34" charset="0"/>
              </a:rPr>
              <a:t>ページ１日田市について </a:t>
            </a:r>
            <a:endParaRPr lang="en-US" altLang="ja-JP" sz="2000" b="0" i="0" u="none" strike="noStrike" dirty="0">
              <a:solidFill>
                <a:srgbClr val="000000"/>
              </a:solidFill>
              <a:effectLst/>
              <a:latin typeface="Arial" panose="020B0604020202020204" pitchFamily="34" charset="0"/>
            </a:endParaRPr>
          </a:p>
          <a:p>
            <a:pPr algn="ctr"/>
            <a:r>
              <a:rPr lang="ja-JP" altLang="ja-JP" dirty="0"/>
              <a:t>日田市の概要、歴史、自然、アクセス、サイトの紹介</a:t>
            </a:r>
            <a:br>
              <a:rPr lang="ja-JP" altLang="ja-JP" sz="2000" b="0" dirty="0">
                <a:effectLst/>
              </a:rPr>
            </a:br>
            <a:endParaRPr lang="ja-JP" altLang="ja-JP" sz="2000" b="0" dirty="0">
              <a:effectLst/>
            </a:endParaRPr>
          </a:p>
          <a:p>
            <a:pPr algn="ctr" rtl="0">
              <a:buNone/>
            </a:pPr>
            <a:r>
              <a:rPr lang="ja-JP" altLang="ja-JP" sz="2000" b="0" i="0" u="none" strike="noStrike" dirty="0">
                <a:solidFill>
                  <a:srgbClr val="000000"/>
                </a:solidFill>
                <a:effectLst/>
                <a:latin typeface="Arial" panose="020B0604020202020204" pitchFamily="34" charset="0"/>
              </a:rPr>
              <a:t>ページ２おすすめ観光スポット</a:t>
            </a:r>
            <a:endParaRPr lang="ja-JP" altLang="ja-JP" sz="2000" b="0" dirty="0">
              <a:effectLst/>
            </a:endParaRPr>
          </a:p>
          <a:p>
            <a:r>
              <a:rPr lang="ja-JP" altLang="ja-JP" dirty="0"/>
              <a:t>豆田町、日田駅、進撃の巨人ミュージアムなどの見どころを写真付きで紹介</a:t>
            </a:r>
            <a:r>
              <a:rPr lang="en-US" altLang="ja-JP" dirty="0"/>
              <a:t> </a:t>
            </a:r>
            <a:endParaRPr lang="ja-JP" altLang="ja-JP" dirty="0"/>
          </a:p>
          <a:p>
            <a:pPr>
              <a:buNone/>
            </a:pPr>
            <a:endParaRPr lang="ja-JP" altLang="ja-JP" sz="2000" b="0" dirty="0">
              <a:effectLst/>
            </a:endParaRPr>
          </a:p>
          <a:p>
            <a:pPr algn="ctr" rtl="0">
              <a:buNone/>
            </a:pPr>
            <a:r>
              <a:rPr lang="ja-JP" altLang="ja-JP" sz="2000" b="0" i="0" u="none" strike="noStrike" dirty="0">
                <a:solidFill>
                  <a:srgbClr val="000000"/>
                </a:solidFill>
                <a:effectLst/>
                <a:latin typeface="Arial" panose="020B0604020202020204" pitchFamily="34" charset="0"/>
              </a:rPr>
              <a:t>ページ３ おいしいグルメ・カフェの紹介</a:t>
            </a:r>
            <a:endParaRPr lang="ja-JP" altLang="ja-JP" sz="2000" b="0" dirty="0">
              <a:effectLst/>
            </a:endParaRPr>
          </a:p>
          <a:p>
            <a:pPr algn="ctr"/>
            <a:r>
              <a:rPr lang="ja-JP" altLang="ja-JP" sz="2000" b="0" i="0" u="none" strike="noStrike" dirty="0">
                <a:solidFill>
                  <a:srgbClr val="000000"/>
                </a:solidFill>
                <a:effectLst/>
                <a:latin typeface="Arial" panose="020B0604020202020204" pitchFamily="34" charset="0"/>
              </a:rPr>
              <a:t> </a:t>
            </a:r>
            <a:r>
              <a:rPr lang="ja-JP" altLang="ja-JP" dirty="0"/>
              <a:t>おいしいグルメ・カフェの紹介　日田焼きそば、人気カフェなどを紹介</a:t>
            </a:r>
            <a:r>
              <a:rPr lang="en-US" altLang="ja-JP" dirty="0"/>
              <a:t>  </a:t>
            </a:r>
            <a:endParaRPr lang="ja-JP" altLang="ja-JP" dirty="0"/>
          </a:p>
          <a:p>
            <a:pPr algn="ctr" rtl="0">
              <a:buNone/>
            </a:pPr>
            <a:endParaRPr lang="ja-JP" altLang="ja-JP" sz="2000" b="0" dirty="0">
              <a:effectLst/>
            </a:endParaRPr>
          </a:p>
          <a:p>
            <a:pPr algn="ctr" rtl="0">
              <a:buNone/>
            </a:pPr>
            <a:r>
              <a:rPr lang="ja-JP" altLang="ja-JP" sz="2000" b="0" i="0" u="none" strike="noStrike" dirty="0">
                <a:solidFill>
                  <a:srgbClr val="000000"/>
                </a:solidFill>
                <a:effectLst/>
                <a:latin typeface="Arial" panose="020B0604020202020204" pitchFamily="34" charset="0"/>
              </a:rPr>
              <a:t>ページ４　千年あかりについて　</a:t>
            </a:r>
            <a:endParaRPr lang="ja-JP" altLang="ja-JP" sz="2000" b="0" dirty="0">
              <a:effectLst/>
            </a:endParaRPr>
          </a:p>
          <a:p>
            <a:r>
              <a:rPr lang="ja-JP" altLang="ja-JP" dirty="0"/>
              <a:t>イベントの概要、開催時期、見どころ、会場へのアクセスや過去の様子を紹介</a:t>
            </a:r>
            <a:r>
              <a:rPr lang="en-US" altLang="ja-JP" dirty="0"/>
              <a:t> </a:t>
            </a:r>
            <a:endParaRPr lang="ja-JP" altLang="ja-JP" dirty="0"/>
          </a:p>
          <a:p>
            <a:pPr>
              <a:buNone/>
            </a:pPr>
            <a:endParaRPr lang="ja-JP" altLang="ja-JP" sz="2000" b="0" dirty="0">
              <a:effectLst/>
            </a:endParaRPr>
          </a:p>
          <a:p>
            <a:pPr algn="ctr" rtl="0">
              <a:buNone/>
            </a:pPr>
            <a:r>
              <a:rPr lang="ja-JP" altLang="ja-JP" sz="2000" b="0" i="0" u="none" strike="noStrike" dirty="0">
                <a:solidFill>
                  <a:srgbClr val="000000"/>
                </a:solidFill>
                <a:effectLst/>
                <a:latin typeface="Arial" panose="020B0604020202020204" pitchFamily="34" charset="0"/>
              </a:rPr>
              <a:t>ページ５ おすすめのお土産</a:t>
            </a:r>
            <a:endParaRPr lang="en-US" altLang="ja-JP" sz="2000" b="0" i="0" u="none" strike="noStrike" dirty="0">
              <a:solidFill>
                <a:srgbClr val="000000"/>
              </a:solidFill>
              <a:effectLst/>
              <a:latin typeface="Arial" panose="020B0604020202020204" pitchFamily="34" charset="0"/>
            </a:endParaRPr>
          </a:p>
          <a:p>
            <a:pPr algn="ctr"/>
            <a:r>
              <a:rPr lang="ja-JP" altLang="ja-JP" dirty="0"/>
              <a:t>日田杉を使った工芸品、お菓子、特産品などを紹介</a:t>
            </a:r>
            <a:endParaRPr lang="ja-JP" altLang="ja-JP" sz="2000" b="0" dirty="0">
              <a:effectLst/>
            </a:endParaRPr>
          </a:p>
          <a:p>
            <a:pPr>
              <a:buNone/>
            </a:pPr>
            <a:br>
              <a:rPr lang="ja-JP" altLang="ja-JP" dirty="0"/>
            </a:br>
            <a:endParaRPr lang="ja-JP" altLang="en-US" dirty="0"/>
          </a:p>
        </p:txBody>
      </p:sp>
      <p:sp>
        <p:nvSpPr>
          <p:cNvPr id="11" name="テキスト ボックス 10">
            <a:extLst>
              <a:ext uri="{FF2B5EF4-FFF2-40B4-BE49-F238E27FC236}">
                <a16:creationId xmlns:a16="http://schemas.microsoft.com/office/drawing/2014/main" id="{91B83614-87A4-086B-F5AF-444E0A5C7ACA}"/>
              </a:ext>
            </a:extLst>
          </p:cNvPr>
          <p:cNvSpPr txBox="1"/>
          <p:nvPr/>
        </p:nvSpPr>
        <p:spPr>
          <a:xfrm>
            <a:off x="6871063" y="558856"/>
            <a:ext cx="6637866" cy="769441"/>
          </a:xfrm>
          <a:prstGeom prst="rect">
            <a:avLst/>
          </a:prstGeom>
          <a:noFill/>
        </p:spPr>
        <p:txBody>
          <a:bodyPr wrap="square">
            <a:spAutoFit/>
          </a:bodyPr>
          <a:lstStyle/>
          <a:p>
            <a:r>
              <a:rPr lang="ja-JP" altLang="ja-JP" sz="4400" b="1" i="0" u="none" strike="noStrike" dirty="0">
                <a:solidFill>
                  <a:srgbClr val="000000"/>
                </a:solidFill>
                <a:effectLst/>
                <a:latin typeface="Arial" panose="020B0604020202020204" pitchFamily="34" charset="0"/>
              </a:rPr>
              <a:t>作品・研究の概要</a:t>
            </a:r>
            <a:endParaRPr lang="ja-JP" altLang="en-US" sz="4400" b="1" dirty="0"/>
          </a:p>
        </p:txBody>
      </p:sp>
      <p:sp>
        <p:nvSpPr>
          <p:cNvPr id="13" name="テキスト ボックス 12">
            <a:extLst>
              <a:ext uri="{FF2B5EF4-FFF2-40B4-BE49-F238E27FC236}">
                <a16:creationId xmlns:a16="http://schemas.microsoft.com/office/drawing/2014/main" id="{91A05F8D-4785-0D7A-AE6E-FBAE35FC4351}"/>
              </a:ext>
            </a:extLst>
          </p:cNvPr>
          <p:cNvSpPr txBox="1"/>
          <p:nvPr/>
        </p:nvSpPr>
        <p:spPr>
          <a:xfrm>
            <a:off x="7619999" y="2544824"/>
            <a:ext cx="3635827" cy="3754874"/>
          </a:xfrm>
          <a:prstGeom prst="rect">
            <a:avLst/>
          </a:prstGeom>
          <a:noFill/>
        </p:spPr>
        <p:txBody>
          <a:bodyPr wrap="square">
            <a:spAutoFit/>
          </a:bodyPr>
          <a:lstStyle/>
          <a:p>
            <a:pPr rtl="0">
              <a:spcBef>
                <a:spcPts val="1200"/>
              </a:spcBef>
              <a:spcAft>
                <a:spcPts val="1200"/>
              </a:spcAft>
              <a:buNone/>
            </a:pPr>
            <a:r>
              <a:rPr lang="ja-JP" altLang="ja-JP" sz="2000" b="0" i="0" u="none" strike="noStrike" dirty="0">
                <a:solidFill>
                  <a:srgbClr val="000000"/>
                </a:solidFill>
                <a:effectLst/>
                <a:latin typeface="Arial" panose="020B0604020202020204" pitchFamily="34" charset="0"/>
              </a:rPr>
              <a:t>日田市の魅力を多くの人に知ってもらうことを目的とした観光Webサイトです。</a:t>
            </a:r>
            <a:endParaRPr lang="ja-JP" altLang="ja-JP" sz="2000" b="0" dirty="0">
              <a:effectLst/>
            </a:endParaRPr>
          </a:p>
          <a:p>
            <a:pPr rtl="0">
              <a:spcBef>
                <a:spcPts val="1200"/>
              </a:spcBef>
              <a:spcAft>
                <a:spcPts val="1200"/>
              </a:spcAft>
              <a:buNone/>
            </a:pPr>
            <a:r>
              <a:rPr lang="ja-JP" altLang="ja-JP" sz="2000" b="0" i="0" u="none" strike="noStrike" dirty="0">
                <a:solidFill>
                  <a:srgbClr val="000000"/>
                </a:solidFill>
                <a:effectLst/>
                <a:latin typeface="Arial" panose="020B0604020202020204" pitchFamily="34" charset="0"/>
              </a:rPr>
              <a:t>日田市の観光スポットやグルメ、季節ごとのイベント、お土産などの情報を分かりやすく紹介し、初めて訪れる人でも日田市の魅力を感じられるサイトを目指しています</a:t>
            </a:r>
            <a:endParaRPr lang="ja-JP" altLang="ja-JP" sz="2000" b="0" dirty="0">
              <a:effectLst/>
            </a:endParaRPr>
          </a:p>
          <a:p>
            <a:pPr>
              <a:buNone/>
            </a:pPr>
            <a:br>
              <a:rPr lang="ja-JP" altLang="ja-JP" b="0" dirty="0">
                <a:effectLst/>
              </a:rPr>
            </a:br>
            <a:endParaRPr lang="ja-JP"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37613A17-85B4-AB80-06F8-0B68D4853B71}"/>
              </a:ext>
            </a:extLst>
          </p:cNvPr>
          <p:cNvSpPr/>
          <p:nvPr/>
        </p:nvSpPr>
        <p:spPr>
          <a:xfrm>
            <a:off x="405036" y="282298"/>
            <a:ext cx="9536763" cy="64683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D4B27BE7-8DCB-6ADF-BE19-A134D852F4ED}"/>
              </a:ext>
            </a:extLst>
          </p:cNvPr>
          <p:cNvSpPr/>
          <p:nvPr/>
        </p:nvSpPr>
        <p:spPr>
          <a:xfrm>
            <a:off x="466405" y="380489"/>
            <a:ext cx="9364929" cy="8162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E282C1A4-9E61-9F69-1975-B5FEA6BDD8AA}"/>
              </a:ext>
            </a:extLst>
          </p:cNvPr>
          <p:cNvSpPr/>
          <p:nvPr/>
        </p:nvSpPr>
        <p:spPr>
          <a:xfrm>
            <a:off x="521638" y="1276478"/>
            <a:ext cx="1356257" cy="539434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BCEDBCD5-56AB-423B-DBA7-2BC97CE6939E}"/>
              </a:ext>
            </a:extLst>
          </p:cNvPr>
          <p:cNvSpPr/>
          <p:nvPr/>
        </p:nvSpPr>
        <p:spPr>
          <a:xfrm>
            <a:off x="2166330" y="1350121"/>
            <a:ext cx="2988677" cy="15894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72673790-B20C-B788-490B-E37F39B36F4C}"/>
              </a:ext>
            </a:extLst>
          </p:cNvPr>
          <p:cNvSpPr/>
          <p:nvPr/>
        </p:nvSpPr>
        <p:spPr>
          <a:xfrm>
            <a:off x="2166330" y="1350121"/>
            <a:ext cx="7499308" cy="33659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D09E4298-94C2-F7EF-578F-216F6BB14414}"/>
              </a:ext>
            </a:extLst>
          </p:cNvPr>
          <p:cNvSpPr txBox="1"/>
          <p:nvPr/>
        </p:nvSpPr>
        <p:spPr>
          <a:xfrm>
            <a:off x="3205719" y="1990962"/>
            <a:ext cx="543739" cy="307777"/>
          </a:xfrm>
          <a:prstGeom prst="rect">
            <a:avLst/>
          </a:prstGeom>
          <a:noFill/>
        </p:spPr>
        <p:txBody>
          <a:bodyPr wrap="none" rtlCol="0">
            <a:spAutoFit/>
          </a:bodyPr>
          <a:lstStyle/>
          <a:p>
            <a:r>
              <a:rPr kumimoji="1" lang="ja-JP" altLang="en-US"/>
              <a:t>写真</a:t>
            </a:r>
            <a:endParaRPr kumimoji="1" lang="ja-JP" altLang="en-US" dirty="0"/>
          </a:p>
        </p:txBody>
      </p:sp>
      <p:sp>
        <p:nvSpPr>
          <p:cNvPr id="29" name="テキスト ボックス 28">
            <a:extLst>
              <a:ext uri="{FF2B5EF4-FFF2-40B4-BE49-F238E27FC236}">
                <a16:creationId xmlns:a16="http://schemas.microsoft.com/office/drawing/2014/main" id="{A66B4DAB-9584-95D4-C873-C4885132495E}"/>
              </a:ext>
            </a:extLst>
          </p:cNvPr>
          <p:cNvSpPr txBox="1"/>
          <p:nvPr/>
        </p:nvSpPr>
        <p:spPr>
          <a:xfrm>
            <a:off x="2125417" y="497741"/>
            <a:ext cx="6096000" cy="523220"/>
          </a:xfrm>
          <a:prstGeom prst="rect">
            <a:avLst/>
          </a:prstGeom>
          <a:noFill/>
        </p:spPr>
        <p:txBody>
          <a:bodyPr wrap="square">
            <a:spAutoFit/>
          </a:bodyPr>
          <a:lstStyle/>
          <a:p>
            <a:pPr algn="ctr"/>
            <a:r>
              <a:rPr lang="ja-JP" altLang="ja-JP" dirty="0"/>
              <a:t>日田市の魅力 Discover HITA</a:t>
            </a:r>
            <a:endParaRPr lang="en-US" altLang="ja-JP" dirty="0"/>
          </a:p>
          <a:p>
            <a:pPr algn="ctr"/>
            <a:r>
              <a:rPr lang="ja-JP" altLang="ja-JP" dirty="0"/>
              <a:t> Home | 観光 | グルメ | 千年あかり | お土産</a:t>
            </a:r>
            <a:endParaRPr lang="ja-JP" altLang="en-US" dirty="0"/>
          </a:p>
        </p:txBody>
      </p:sp>
      <p:sp>
        <p:nvSpPr>
          <p:cNvPr id="31" name="テキスト ボックス 30">
            <a:extLst>
              <a:ext uri="{FF2B5EF4-FFF2-40B4-BE49-F238E27FC236}">
                <a16:creationId xmlns:a16="http://schemas.microsoft.com/office/drawing/2014/main" id="{A22FDDD8-5514-770D-7A0F-15ADC05C9534}"/>
              </a:ext>
            </a:extLst>
          </p:cNvPr>
          <p:cNvSpPr txBox="1"/>
          <p:nvPr/>
        </p:nvSpPr>
        <p:spPr>
          <a:xfrm>
            <a:off x="787400" y="1808526"/>
            <a:ext cx="1090495" cy="307777"/>
          </a:xfrm>
          <a:prstGeom prst="rect">
            <a:avLst/>
          </a:prstGeom>
          <a:noFill/>
        </p:spPr>
        <p:txBody>
          <a:bodyPr wrap="square">
            <a:spAutoFit/>
          </a:bodyPr>
          <a:lstStyle/>
          <a:p>
            <a:r>
              <a:rPr lang="ja-JP" altLang="ja-JP" dirty="0"/>
              <a:t>MENU </a:t>
            </a:r>
            <a:endParaRPr lang="ja-JP" altLang="en-US" dirty="0"/>
          </a:p>
        </p:txBody>
      </p:sp>
      <p:sp>
        <p:nvSpPr>
          <p:cNvPr id="41" name="テキスト ボックス 40">
            <a:extLst>
              <a:ext uri="{FF2B5EF4-FFF2-40B4-BE49-F238E27FC236}">
                <a16:creationId xmlns:a16="http://schemas.microsoft.com/office/drawing/2014/main" id="{72E75551-FB58-262B-3F21-ADA6CDB6E55F}"/>
              </a:ext>
            </a:extLst>
          </p:cNvPr>
          <p:cNvSpPr txBox="1"/>
          <p:nvPr/>
        </p:nvSpPr>
        <p:spPr>
          <a:xfrm>
            <a:off x="6989618" y="1579790"/>
            <a:ext cx="6481232" cy="307777"/>
          </a:xfrm>
          <a:prstGeom prst="rect">
            <a:avLst/>
          </a:prstGeom>
          <a:noFill/>
        </p:spPr>
        <p:txBody>
          <a:bodyPr wrap="square">
            <a:spAutoFit/>
          </a:bodyPr>
          <a:lstStyle/>
          <a:p>
            <a:r>
              <a:rPr lang="ja-JP" altLang="ja-JP" dirty="0"/>
              <a:t>日田市について</a:t>
            </a:r>
            <a:endParaRPr lang="ja-JP" altLang="en-US" dirty="0"/>
          </a:p>
        </p:txBody>
      </p:sp>
      <p:sp>
        <p:nvSpPr>
          <p:cNvPr id="43" name="テキスト ボックス 42">
            <a:extLst>
              <a:ext uri="{FF2B5EF4-FFF2-40B4-BE49-F238E27FC236}">
                <a16:creationId xmlns:a16="http://schemas.microsoft.com/office/drawing/2014/main" id="{087EB042-65CD-8EE5-7456-8F26FF5985CB}"/>
              </a:ext>
            </a:extLst>
          </p:cNvPr>
          <p:cNvSpPr txBox="1"/>
          <p:nvPr/>
        </p:nvSpPr>
        <p:spPr>
          <a:xfrm>
            <a:off x="7145203" y="1909415"/>
            <a:ext cx="6736080" cy="307777"/>
          </a:xfrm>
          <a:prstGeom prst="rect">
            <a:avLst/>
          </a:prstGeom>
          <a:noFill/>
        </p:spPr>
        <p:txBody>
          <a:bodyPr wrap="square">
            <a:spAutoFit/>
          </a:bodyPr>
          <a:lstStyle/>
          <a:p>
            <a:r>
              <a:rPr lang="ja-JP" altLang="ja-JP" dirty="0"/>
              <a:t>紹介文</a:t>
            </a:r>
            <a:endParaRPr lang="ja-JP" altLang="en-US" dirty="0"/>
          </a:p>
        </p:txBody>
      </p:sp>
      <p:sp>
        <p:nvSpPr>
          <p:cNvPr id="45" name="テキスト ボックス 44">
            <a:extLst>
              <a:ext uri="{FF2B5EF4-FFF2-40B4-BE49-F238E27FC236}">
                <a16:creationId xmlns:a16="http://schemas.microsoft.com/office/drawing/2014/main" id="{18BE5599-7170-6910-98B8-3FCDEE4671A9}"/>
              </a:ext>
            </a:extLst>
          </p:cNvPr>
          <p:cNvSpPr txBox="1"/>
          <p:nvPr/>
        </p:nvSpPr>
        <p:spPr>
          <a:xfrm>
            <a:off x="6989618" y="2473895"/>
            <a:ext cx="6940730" cy="307777"/>
          </a:xfrm>
          <a:prstGeom prst="rect">
            <a:avLst/>
          </a:prstGeom>
          <a:noFill/>
        </p:spPr>
        <p:txBody>
          <a:bodyPr wrap="square">
            <a:spAutoFit/>
          </a:bodyPr>
          <a:lstStyle/>
          <a:p>
            <a:r>
              <a:rPr lang="ja-JP" altLang="ja-JP" dirty="0"/>
              <a:t>詳しく見る </a:t>
            </a:r>
            <a:endParaRPr lang="ja-JP" altLang="en-US" dirty="0"/>
          </a:p>
        </p:txBody>
      </p:sp>
      <p:sp>
        <p:nvSpPr>
          <p:cNvPr id="47" name="テキスト ボックス 46">
            <a:extLst>
              <a:ext uri="{FF2B5EF4-FFF2-40B4-BE49-F238E27FC236}">
                <a16:creationId xmlns:a16="http://schemas.microsoft.com/office/drawing/2014/main" id="{65A71CF1-1F48-D8EC-10E1-08F6EA23FFAB}"/>
              </a:ext>
            </a:extLst>
          </p:cNvPr>
          <p:cNvSpPr txBox="1"/>
          <p:nvPr/>
        </p:nvSpPr>
        <p:spPr>
          <a:xfrm>
            <a:off x="2698782" y="1629137"/>
            <a:ext cx="6966856" cy="307777"/>
          </a:xfrm>
          <a:prstGeom prst="rect">
            <a:avLst/>
          </a:prstGeom>
          <a:noFill/>
        </p:spPr>
        <p:txBody>
          <a:bodyPr wrap="square">
            <a:spAutoFit/>
          </a:bodyPr>
          <a:lstStyle/>
          <a:p>
            <a:r>
              <a:rPr lang="ja-JP" altLang="ja-JP" dirty="0"/>
              <a:t>日田市へようこそ </a:t>
            </a:r>
            <a:endParaRPr lang="ja-JP" altLang="en-US" dirty="0"/>
          </a:p>
        </p:txBody>
      </p:sp>
      <p:sp>
        <p:nvSpPr>
          <p:cNvPr id="49" name="テキスト ボックス 48">
            <a:extLst>
              <a:ext uri="{FF2B5EF4-FFF2-40B4-BE49-F238E27FC236}">
                <a16:creationId xmlns:a16="http://schemas.microsoft.com/office/drawing/2014/main" id="{41689B81-5383-9471-C8C0-CE0E102D3E32}"/>
              </a:ext>
            </a:extLst>
          </p:cNvPr>
          <p:cNvSpPr txBox="1"/>
          <p:nvPr/>
        </p:nvSpPr>
        <p:spPr>
          <a:xfrm>
            <a:off x="2698782" y="2416497"/>
            <a:ext cx="6966856" cy="307777"/>
          </a:xfrm>
          <a:prstGeom prst="rect">
            <a:avLst/>
          </a:prstGeom>
          <a:noFill/>
        </p:spPr>
        <p:txBody>
          <a:bodyPr wrap="square">
            <a:spAutoFit/>
          </a:bodyPr>
          <a:lstStyle/>
          <a:p>
            <a:r>
              <a:rPr lang="ja-JP" altLang="ja-JP" dirty="0"/>
              <a:t>キャッチコピー</a:t>
            </a:r>
            <a:endParaRPr lang="ja-JP" altLang="en-US" dirty="0"/>
          </a:p>
        </p:txBody>
      </p:sp>
    </p:spTree>
    <p:extLst>
      <p:ext uri="{BB962C8B-B14F-4D97-AF65-F5344CB8AC3E}">
        <p14:creationId xmlns:p14="http://schemas.microsoft.com/office/powerpoint/2010/main" val="2680096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7ABF3217-F388-AE10-1D17-5246ECD49D08}"/>
              </a:ext>
            </a:extLst>
          </p:cNvPr>
          <p:cNvSpPr/>
          <p:nvPr/>
        </p:nvSpPr>
        <p:spPr>
          <a:xfrm>
            <a:off x="405036" y="282298"/>
            <a:ext cx="9536763" cy="64683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1C058873-A5BA-28F8-098E-981523CA508A}"/>
              </a:ext>
            </a:extLst>
          </p:cNvPr>
          <p:cNvSpPr/>
          <p:nvPr/>
        </p:nvSpPr>
        <p:spPr>
          <a:xfrm>
            <a:off x="466405" y="380489"/>
            <a:ext cx="9364929" cy="8162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FEF1C771-09BA-5BBA-554C-0D048426DB12}"/>
              </a:ext>
            </a:extLst>
          </p:cNvPr>
          <p:cNvSpPr/>
          <p:nvPr/>
        </p:nvSpPr>
        <p:spPr>
          <a:xfrm>
            <a:off x="521638" y="1276478"/>
            <a:ext cx="1356257" cy="539434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7333EDE5-B9B5-7BE1-C840-B3194186F31F}"/>
              </a:ext>
            </a:extLst>
          </p:cNvPr>
          <p:cNvSpPr/>
          <p:nvPr/>
        </p:nvSpPr>
        <p:spPr>
          <a:xfrm>
            <a:off x="5211732" y="1321573"/>
            <a:ext cx="4314250" cy="15894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F37136E0-F2D6-D77C-7F26-1452BEC12B20}"/>
              </a:ext>
            </a:extLst>
          </p:cNvPr>
          <p:cNvSpPr/>
          <p:nvPr/>
        </p:nvSpPr>
        <p:spPr>
          <a:xfrm>
            <a:off x="2026674" y="1321573"/>
            <a:ext cx="7499308" cy="46005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42A0425B-4769-ACBA-04D9-5B1CD33C7A1A}"/>
              </a:ext>
            </a:extLst>
          </p:cNvPr>
          <p:cNvSpPr txBox="1"/>
          <p:nvPr/>
        </p:nvSpPr>
        <p:spPr>
          <a:xfrm>
            <a:off x="2125417" y="497741"/>
            <a:ext cx="6096000" cy="523220"/>
          </a:xfrm>
          <a:prstGeom prst="rect">
            <a:avLst/>
          </a:prstGeom>
          <a:noFill/>
        </p:spPr>
        <p:txBody>
          <a:bodyPr wrap="square">
            <a:spAutoFit/>
          </a:bodyPr>
          <a:lstStyle/>
          <a:p>
            <a:pPr algn="ctr"/>
            <a:r>
              <a:rPr lang="ja-JP" altLang="ja-JP" dirty="0"/>
              <a:t>日田市の魅力 Discover HITA</a:t>
            </a:r>
            <a:endParaRPr lang="en-US" altLang="ja-JP" dirty="0"/>
          </a:p>
          <a:p>
            <a:pPr algn="ctr"/>
            <a:r>
              <a:rPr lang="ja-JP" altLang="ja-JP" dirty="0"/>
              <a:t> Home | 観光 | グルメ | 千年あかり | お土産</a:t>
            </a:r>
            <a:endParaRPr lang="ja-JP" altLang="en-US" dirty="0"/>
          </a:p>
        </p:txBody>
      </p:sp>
      <p:sp>
        <p:nvSpPr>
          <p:cNvPr id="23" name="テキスト ボックス 22">
            <a:extLst>
              <a:ext uri="{FF2B5EF4-FFF2-40B4-BE49-F238E27FC236}">
                <a16:creationId xmlns:a16="http://schemas.microsoft.com/office/drawing/2014/main" id="{E5CAD4F5-8506-E54F-47B6-C68F88AED14A}"/>
              </a:ext>
            </a:extLst>
          </p:cNvPr>
          <p:cNvSpPr txBox="1"/>
          <p:nvPr/>
        </p:nvSpPr>
        <p:spPr>
          <a:xfrm>
            <a:off x="787400" y="1808526"/>
            <a:ext cx="1090495" cy="307777"/>
          </a:xfrm>
          <a:prstGeom prst="rect">
            <a:avLst/>
          </a:prstGeom>
          <a:noFill/>
        </p:spPr>
        <p:txBody>
          <a:bodyPr wrap="square">
            <a:spAutoFit/>
          </a:bodyPr>
          <a:lstStyle/>
          <a:p>
            <a:r>
              <a:rPr lang="ja-JP" altLang="ja-JP" dirty="0"/>
              <a:t>MENU </a:t>
            </a:r>
            <a:endParaRPr lang="ja-JP" altLang="en-US" dirty="0"/>
          </a:p>
        </p:txBody>
      </p:sp>
      <p:sp>
        <p:nvSpPr>
          <p:cNvPr id="25" name="テキスト ボックス 24">
            <a:extLst>
              <a:ext uri="{FF2B5EF4-FFF2-40B4-BE49-F238E27FC236}">
                <a16:creationId xmlns:a16="http://schemas.microsoft.com/office/drawing/2014/main" id="{D46ABFF7-0D5B-91B8-5F23-86D82AE38129}"/>
              </a:ext>
            </a:extLst>
          </p:cNvPr>
          <p:cNvSpPr txBox="1"/>
          <p:nvPr/>
        </p:nvSpPr>
        <p:spPr>
          <a:xfrm>
            <a:off x="2722191" y="2203754"/>
            <a:ext cx="1642420" cy="307777"/>
          </a:xfrm>
          <a:prstGeom prst="rect">
            <a:avLst/>
          </a:prstGeom>
          <a:noFill/>
        </p:spPr>
        <p:txBody>
          <a:bodyPr wrap="square">
            <a:spAutoFit/>
          </a:bodyPr>
          <a:lstStyle/>
          <a:p>
            <a:r>
              <a:rPr lang="ja-JP" altLang="ja-JP" dirty="0"/>
              <a:t>観光スポット </a:t>
            </a:r>
            <a:endParaRPr lang="ja-JP" altLang="en-US" dirty="0"/>
          </a:p>
        </p:txBody>
      </p:sp>
      <p:sp>
        <p:nvSpPr>
          <p:cNvPr id="27" name="テキスト ボックス 26">
            <a:extLst>
              <a:ext uri="{FF2B5EF4-FFF2-40B4-BE49-F238E27FC236}">
                <a16:creationId xmlns:a16="http://schemas.microsoft.com/office/drawing/2014/main" id="{21D2E3D7-6E5D-3164-8E76-D3D7F81F59E2}"/>
              </a:ext>
            </a:extLst>
          </p:cNvPr>
          <p:cNvSpPr txBox="1"/>
          <p:nvPr/>
        </p:nvSpPr>
        <p:spPr>
          <a:xfrm>
            <a:off x="2843167" y="2595886"/>
            <a:ext cx="1284377" cy="307777"/>
          </a:xfrm>
          <a:prstGeom prst="rect">
            <a:avLst/>
          </a:prstGeom>
          <a:noFill/>
        </p:spPr>
        <p:txBody>
          <a:bodyPr wrap="square">
            <a:spAutoFit/>
          </a:bodyPr>
          <a:lstStyle/>
          <a:p>
            <a:r>
              <a:rPr lang="ja-JP" altLang="ja-JP" dirty="0"/>
              <a:t>写真3枚</a:t>
            </a:r>
            <a:endParaRPr lang="ja-JP" altLang="en-US" dirty="0"/>
          </a:p>
        </p:txBody>
      </p:sp>
      <p:sp>
        <p:nvSpPr>
          <p:cNvPr id="29" name="テキスト ボックス 28">
            <a:extLst>
              <a:ext uri="{FF2B5EF4-FFF2-40B4-BE49-F238E27FC236}">
                <a16:creationId xmlns:a16="http://schemas.microsoft.com/office/drawing/2014/main" id="{E217189B-2C41-ABB6-B4B6-93126F151030}"/>
              </a:ext>
            </a:extLst>
          </p:cNvPr>
          <p:cNvSpPr txBox="1"/>
          <p:nvPr/>
        </p:nvSpPr>
        <p:spPr>
          <a:xfrm>
            <a:off x="6388144" y="1478667"/>
            <a:ext cx="1608253" cy="307777"/>
          </a:xfrm>
          <a:prstGeom prst="rect">
            <a:avLst/>
          </a:prstGeom>
          <a:noFill/>
        </p:spPr>
        <p:txBody>
          <a:bodyPr wrap="square">
            <a:spAutoFit/>
          </a:bodyPr>
          <a:lstStyle/>
          <a:p>
            <a:r>
              <a:rPr lang="ja-JP" altLang="ja-JP" dirty="0"/>
              <a:t>グルメ・イベント</a:t>
            </a:r>
            <a:endParaRPr lang="ja-JP" altLang="en-US" dirty="0"/>
          </a:p>
        </p:txBody>
      </p:sp>
      <p:sp>
        <p:nvSpPr>
          <p:cNvPr id="31" name="テキスト ボックス 30">
            <a:extLst>
              <a:ext uri="{FF2B5EF4-FFF2-40B4-BE49-F238E27FC236}">
                <a16:creationId xmlns:a16="http://schemas.microsoft.com/office/drawing/2014/main" id="{E88ADB1A-1C2C-8049-14C0-3D2C889D51A8}"/>
              </a:ext>
            </a:extLst>
          </p:cNvPr>
          <p:cNvSpPr txBox="1"/>
          <p:nvPr/>
        </p:nvSpPr>
        <p:spPr>
          <a:xfrm>
            <a:off x="6567990" y="1884936"/>
            <a:ext cx="1232026" cy="307777"/>
          </a:xfrm>
          <a:prstGeom prst="rect">
            <a:avLst/>
          </a:prstGeom>
          <a:noFill/>
        </p:spPr>
        <p:txBody>
          <a:bodyPr wrap="square">
            <a:spAutoFit/>
          </a:bodyPr>
          <a:lstStyle/>
          <a:p>
            <a:r>
              <a:rPr lang="ja-JP" altLang="ja-JP" dirty="0"/>
              <a:t>写真・紹介</a:t>
            </a:r>
            <a:endParaRPr lang="ja-JP" altLang="en-US" dirty="0"/>
          </a:p>
        </p:txBody>
      </p:sp>
      <p:sp>
        <p:nvSpPr>
          <p:cNvPr id="43" name="正方形/長方形 42">
            <a:extLst>
              <a:ext uri="{FF2B5EF4-FFF2-40B4-BE49-F238E27FC236}">
                <a16:creationId xmlns:a16="http://schemas.microsoft.com/office/drawing/2014/main" id="{0C82E32E-D2AD-66DC-6B77-5F46CA837B5E}"/>
              </a:ext>
            </a:extLst>
          </p:cNvPr>
          <p:cNvSpPr/>
          <p:nvPr/>
        </p:nvSpPr>
        <p:spPr>
          <a:xfrm>
            <a:off x="2073894" y="3226030"/>
            <a:ext cx="4314250" cy="15894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04594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15565c702ff_2_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ja-JP" dirty="0"/>
              <a:t>今後の流れ</a:t>
            </a:r>
            <a:endParaRPr dirty="0"/>
          </a:p>
          <a:p>
            <a:pPr marL="0" lvl="0" indent="0" algn="l" rtl="0">
              <a:lnSpc>
                <a:spcPct val="90000"/>
              </a:lnSpc>
              <a:spcBef>
                <a:spcPts val="0"/>
              </a:spcBef>
              <a:spcAft>
                <a:spcPts val="0"/>
              </a:spcAft>
              <a:buClr>
                <a:schemeClr val="dk1"/>
              </a:buClr>
              <a:buSzPts val="4400"/>
              <a:buFont typeface="Arial"/>
              <a:buNone/>
            </a:pPr>
            <a:endParaRPr dirty="0"/>
          </a:p>
        </p:txBody>
      </p:sp>
      <p:sp>
        <p:nvSpPr>
          <p:cNvPr id="115" name="Google Shape;115;g15565c702ff_2_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r>
              <a:rPr lang="en-US" altLang="ja-JP" dirty="0"/>
              <a:t>7</a:t>
            </a:r>
            <a:r>
              <a:rPr lang="ja-JP" altLang="ja-JP" dirty="0"/>
              <a:t>月　</a:t>
            </a:r>
            <a:r>
              <a:rPr lang="ja-JP" altLang="en-US" dirty="0"/>
              <a:t>構成を考える</a:t>
            </a:r>
            <a:endParaRPr lang="en-US" altLang="ja-JP" dirty="0"/>
          </a:p>
          <a:p>
            <a:r>
              <a:rPr lang="en-US" altLang="ja-JP" dirty="0"/>
              <a:t>8</a:t>
            </a:r>
            <a:r>
              <a:rPr lang="ja-JP" altLang="ja-JP" dirty="0"/>
              <a:t>月</a:t>
            </a:r>
            <a:r>
              <a:rPr lang="ja-JP" altLang="en-US" dirty="0"/>
              <a:t>～９月　素材撮影</a:t>
            </a:r>
            <a:endParaRPr lang="ja-JP" altLang="ja-JP" dirty="0"/>
          </a:p>
          <a:p>
            <a:r>
              <a:rPr lang="ja-JP" altLang="ja-JP" dirty="0"/>
              <a:t>１０月</a:t>
            </a:r>
            <a:r>
              <a:rPr lang="ja-JP" altLang="en-US" dirty="0"/>
              <a:t>～１１月　編集</a:t>
            </a:r>
            <a:endParaRPr lang="ja-JP" altLang="ja-JP" dirty="0"/>
          </a:p>
          <a:p>
            <a:r>
              <a:rPr lang="en-US" altLang="ja-JP" dirty="0"/>
              <a:t>12</a:t>
            </a:r>
            <a:r>
              <a:rPr lang="ja-JP" altLang="ja-JP" dirty="0"/>
              <a:t>月</a:t>
            </a:r>
            <a:r>
              <a:rPr lang="ja-JP" altLang="en-US" dirty="0"/>
              <a:t>　完成</a:t>
            </a:r>
            <a:endParaRPr lang="ja-JP" altLang="ja-JP" dirty="0"/>
          </a:p>
          <a:p>
            <a:pPr marL="228600" lvl="0" indent="-50800" algn="l" rtl="0">
              <a:lnSpc>
                <a:spcPct val="90000"/>
              </a:lnSpc>
              <a:spcBef>
                <a:spcPts val="0"/>
              </a:spcBef>
              <a:spcAft>
                <a:spcPts val="0"/>
              </a:spcAft>
              <a:buClr>
                <a:schemeClr val="dk1"/>
              </a:buClr>
              <a:buSzPts val="2800"/>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409B5A99-12FF-7C26-C5D5-BF66020F1DBD}"/>
              </a:ext>
            </a:extLst>
          </p:cNvPr>
          <p:cNvSpPr txBox="1"/>
          <p:nvPr/>
        </p:nvSpPr>
        <p:spPr>
          <a:xfrm>
            <a:off x="2336800" y="684312"/>
            <a:ext cx="7924800" cy="584775"/>
          </a:xfrm>
          <a:prstGeom prst="rect">
            <a:avLst/>
          </a:prstGeom>
          <a:noFill/>
        </p:spPr>
        <p:txBody>
          <a:bodyPr wrap="square">
            <a:spAutoFit/>
          </a:bodyPr>
          <a:lstStyle/>
          <a:p>
            <a:r>
              <a:rPr lang="ja-JP" altLang="ja-JP" sz="3200" b="0" i="0" u="none" strike="noStrike" dirty="0">
                <a:solidFill>
                  <a:srgbClr val="000000"/>
                </a:solidFill>
                <a:effectLst/>
                <a:latin typeface="Arial" panose="020B0604020202020204" pitchFamily="34" charset="0"/>
              </a:rPr>
              <a:t>テーマ２　飼いやすいペットについて</a:t>
            </a:r>
            <a:endParaRPr lang="ja-JP" altLang="en-US" sz="3200" dirty="0"/>
          </a:p>
        </p:txBody>
      </p:sp>
      <p:sp>
        <p:nvSpPr>
          <p:cNvPr id="7" name="テキスト ボックス 6">
            <a:extLst>
              <a:ext uri="{FF2B5EF4-FFF2-40B4-BE49-F238E27FC236}">
                <a16:creationId xmlns:a16="http://schemas.microsoft.com/office/drawing/2014/main" id="{81C3A827-575B-6C5A-727E-80C4D761074E}"/>
              </a:ext>
            </a:extLst>
          </p:cNvPr>
          <p:cNvSpPr txBox="1"/>
          <p:nvPr/>
        </p:nvSpPr>
        <p:spPr>
          <a:xfrm>
            <a:off x="2963334" y="1688964"/>
            <a:ext cx="6096000" cy="5042406"/>
          </a:xfrm>
          <a:prstGeom prst="rect">
            <a:avLst/>
          </a:prstGeom>
          <a:noFill/>
        </p:spPr>
        <p:txBody>
          <a:bodyPr wrap="square">
            <a:spAutoFit/>
          </a:bodyPr>
          <a:lstStyle/>
          <a:p>
            <a:pPr algn="ctr" rtl="0">
              <a:spcBef>
                <a:spcPts val="1800"/>
              </a:spcBef>
              <a:spcAft>
                <a:spcPts val="400"/>
              </a:spcAft>
              <a:buNone/>
            </a:pPr>
            <a:r>
              <a:rPr lang="ja-JP" altLang="ja-JP" sz="1800" b="1" i="0" u="none" strike="noStrike" dirty="0">
                <a:solidFill>
                  <a:srgbClr val="000000"/>
                </a:solidFill>
                <a:effectLst/>
                <a:latin typeface="Arial" panose="020B0604020202020204" pitchFamily="34" charset="0"/>
              </a:rPr>
              <a:t>背景</a:t>
            </a:r>
            <a:endParaRPr lang="ja-JP" altLang="ja-JP" b="0" dirty="0">
              <a:effectLst/>
            </a:endParaRPr>
          </a:p>
          <a:p>
            <a:pPr rtl="0">
              <a:spcBef>
                <a:spcPts val="1200"/>
              </a:spcBef>
              <a:spcAft>
                <a:spcPts val="1200"/>
              </a:spcAft>
              <a:buNone/>
            </a:pPr>
            <a:r>
              <a:rPr lang="ja-JP" altLang="ja-JP" sz="1600" b="0" i="0" u="none" strike="noStrike" dirty="0">
                <a:solidFill>
                  <a:srgbClr val="000000"/>
                </a:solidFill>
                <a:effectLst/>
                <a:latin typeface="Arial" panose="020B0604020202020204" pitchFamily="34" charset="0"/>
              </a:rPr>
              <a:t>近年、ペットを飼いたいと考える人が増えています。しかし、初心者は「どのペットが飼いやすいのか」「どのような準備やお世話が必要なのか」が分からず、不安を感じることがあります。</a:t>
            </a:r>
            <a:endParaRPr lang="ja-JP" altLang="ja-JP" sz="1600" b="0" dirty="0">
              <a:effectLst/>
            </a:endParaRPr>
          </a:p>
          <a:p>
            <a:pPr algn="ctr" rtl="0">
              <a:spcBef>
                <a:spcPts val="1200"/>
              </a:spcBef>
              <a:spcAft>
                <a:spcPts val="1200"/>
              </a:spcAft>
              <a:buNone/>
            </a:pPr>
            <a:r>
              <a:rPr lang="ja-JP" altLang="ja-JP" sz="1800" b="1" i="0" u="none" strike="noStrike" dirty="0">
                <a:solidFill>
                  <a:srgbClr val="000000"/>
                </a:solidFill>
                <a:effectLst/>
                <a:latin typeface="Arial" panose="020B0604020202020204" pitchFamily="34" charset="0"/>
              </a:rPr>
              <a:t>目的</a:t>
            </a:r>
            <a:endParaRPr lang="ja-JP" altLang="ja-JP" b="0" dirty="0">
              <a:effectLst/>
            </a:endParaRPr>
          </a:p>
          <a:p>
            <a:pPr rtl="0">
              <a:spcBef>
                <a:spcPts val="1200"/>
              </a:spcBef>
              <a:spcAft>
                <a:spcPts val="1200"/>
              </a:spcAft>
              <a:buNone/>
            </a:pPr>
            <a:r>
              <a:rPr lang="ja-JP" altLang="ja-JP" sz="1600" b="0" i="0" u="none" strike="noStrike" dirty="0">
                <a:solidFill>
                  <a:srgbClr val="000000"/>
                </a:solidFill>
                <a:effectLst/>
                <a:latin typeface="Arial" panose="020B0604020202020204" pitchFamily="34" charset="0"/>
              </a:rPr>
              <a:t>初心者でも飼いやすいペットの特徴や飼育方法、必要な費用などを分かりやすく紹介し、自分に合ったペット選びができるようサポートするWebサイトを制作します。</a:t>
            </a:r>
            <a:endParaRPr lang="ja-JP" altLang="ja-JP" sz="1600" b="0" dirty="0">
              <a:effectLst/>
            </a:endParaRPr>
          </a:p>
          <a:p>
            <a:pPr algn="ctr" rtl="0">
              <a:spcBef>
                <a:spcPts val="1800"/>
              </a:spcBef>
              <a:spcAft>
                <a:spcPts val="400"/>
              </a:spcAft>
              <a:buNone/>
            </a:pPr>
            <a:r>
              <a:rPr lang="ja-JP" altLang="ja-JP" sz="1800" b="1" i="0" u="none" strike="noStrike" dirty="0">
                <a:solidFill>
                  <a:srgbClr val="000000"/>
                </a:solidFill>
                <a:effectLst/>
                <a:latin typeface="Arial" panose="020B0604020202020204" pitchFamily="34" charset="0"/>
              </a:rPr>
              <a:t>ターゲット</a:t>
            </a:r>
            <a:endParaRPr lang="ja-JP" altLang="ja-JP" b="0" dirty="0">
              <a:effectLst/>
            </a:endParaRPr>
          </a:p>
          <a:p>
            <a:pPr algn="ctr" rtl="0" fontAlgn="base">
              <a:spcBef>
                <a:spcPts val="1200"/>
              </a:spcBef>
              <a:buFont typeface="Arial" panose="020B0604020202020204" pitchFamily="34" charset="0"/>
              <a:buChar char="•"/>
            </a:pPr>
            <a:r>
              <a:rPr lang="ja-JP" altLang="ja-JP" sz="1600" b="0" i="0" u="none" strike="noStrike" dirty="0">
                <a:solidFill>
                  <a:srgbClr val="000000"/>
                </a:solidFill>
                <a:effectLst/>
                <a:latin typeface="Arial" panose="020B0604020202020204" pitchFamily="34" charset="0"/>
              </a:rPr>
              <a:t>初めてペットを飼いたい人</a:t>
            </a:r>
          </a:p>
          <a:p>
            <a:pPr algn="ctr" rtl="0" fontAlgn="base">
              <a:spcAft>
                <a:spcPts val="1200"/>
              </a:spcAft>
              <a:buFont typeface="Arial" panose="020B0604020202020204" pitchFamily="34" charset="0"/>
              <a:buChar char="•"/>
            </a:pPr>
            <a:r>
              <a:rPr lang="ja-JP" altLang="ja-JP" sz="1600" b="0" i="0" u="none" strike="noStrike" dirty="0">
                <a:solidFill>
                  <a:srgbClr val="000000"/>
                </a:solidFill>
                <a:effectLst/>
                <a:latin typeface="Arial" panose="020B0604020202020204" pitchFamily="34" charset="0"/>
              </a:rPr>
              <a:t>学生や一人暮らしの人</a:t>
            </a:r>
          </a:p>
          <a:p>
            <a:pPr algn="ctr" rtl="0" fontAlgn="base">
              <a:spcBef>
                <a:spcPts val="1200"/>
              </a:spcBef>
              <a:spcAft>
                <a:spcPts val="1200"/>
              </a:spcAft>
              <a:buFont typeface="Arial" panose="020B0604020202020204" pitchFamily="34" charset="0"/>
              <a:buChar char="•"/>
            </a:pPr>
            <a:r>
              <a:rPr lang="ja-JP" altLang="ja-JP" sz="1600" b="0" i="0" u="none" strike="noStrike" dirty="0">
                <a:solidFill>
                  <a:srgbClr val="000000"/>
                </a:solidFill>
                <a:effectLst/>
                <a:latin typeface="Arial" panose="020B0604020202020204" pitchFamily="34" charset="0"/>
              </a:rPr>
              <a:t>家族でペットを迎えたいと考えている人</a:t>
            </a:r>
          </a:p>
        </p:txBody>
      </p:sp>
    </p:spTree>
    <p:extLst>
      <p:ext uri="{BB962C8B-B14F-4D97-AF65-F5344CB8AC3E}">
        <p14:creationId xmlns:p14="http://schemas.microsoft.com/office/powerpoint/2010/main" val="967898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BB82D915-2957-5602-2F54-C5B0A06CED8A}"/>
              </a:ext>
            </a:extLst>
          </p:cNvPr>
          <p:cNvSpPr txBox="1"/>
          <p:nvPr/>
        </p:nvSpPr>
        <p:spPr>
          <a:xfrm>
            <a:off x="1098006" y="1767006"/>
            <a:ext cx="6096000" cy="5324535"/>
          </a:xfrm>
          <a:prstGeom prst="rect">
            <a:avLst/>
          </a:prstGeom>
          <a:noFill/>
        </p:spPr>
        <p:txBody>
          <a:bodyPr wrap="square">
            <a:spAutoFit/>
          </a:bodyPr>
          <a:lstStyle/>
          <a:p>
            <a:pPr rtl="0">
              <a:buNone/>
            </a:pPr>
            <a:r>
              <a:rPr lang="ja-JP" altLang="ja-JP" sz="2400" b="0" i="0" u="none" strike="noStrike" dirty="0">
                <a:solidFill>
                  <a:srgbClr val="000000"/>
                </a:solidFill>
                <a:effectLst/>
                <a:latin typeface="Arial" panose="020B0604020202020204" pitchFamily="34" charset="0"/>
              </a:rPr>
              <a:t>ページ１ トップページ  </a:t>
            </a:r>
            <a:endParaRPr lang="ja-JP" altLang="ja-JP" sz="2400" b="0" dirty="0">
              <a:effectLst/>
            </a:endParaRPr>
          </a:p>
          <a:p>
            <a:pPr>
              <a:buNone/>
            </a:pPr>
            <a:br>
              <a:rPr lang="ja-JP" altLang="ja-JP" sz="2400" b="0" dirty="0">
                <a:effectLst/>
              </a:rPr>
            </a:br>
            <a:endParaRPr lang="ja-JP" altLang="ja-JP" sz="2400" b="0" dirty="0">
              <a:effectLst/>
            </a:endParaRPr>
          </a:p>
          <a:p>
            <a:pPr rtl="0">
              <a:buNone/>
            </a:pPr>
            <a:r>
              <a:rPr lang="ja-JP" altLang="ja-JP" sz="2400" b="0" i="0" u="none" strike="noStrike" dirty="0">
                <a:solidFill>
                  <a:srgbClr val="000000"/>
                </a:solidFill>
                <a:effectLst/>
                <a:latin typeface="Arial" panose="020B0604020202020204" pitchFamily="34" charset="0"/>
              </a:rPr>
              <a:t>ページ２ ペット紹介 </a:t>
            </a:r>
            <a:endParaRPr lang="ja-JP" altLang="ja-JP" sz="2400" b="0" dirty="0">
              <a:effectLst/>
            </a:endParaRPr>
          </a:p>
          <a:p>
            <a:pPr>
              <a:buNone/>
            </a:pPr>
            <a:br>
              <a:rPr lang="ja-JP" altLang="ja-JP" sz="2400" b="0" dirty="0">
                <a:effectLst/>
              </a:rPr>
            </a:br>
            <a:endParaRPr lang="ja-JP" altLang="ja-JP" sz="2400" b="0" dirty="0">
              <a:effectLst/>
            </a:endParaRPr>
          </a:p>
          <a:p>
            <a:pPr rtl="0">
              <a:buNone/>
            </a:pPr>
            <a:r>
              <a:rPr lang="ja-JP" altLang="ja-JP" sz="2400" b="0" i="0" u="none" strike="noStrike" dirty="0">
                <a:solidFill>
                  <a:srgbClr val="000000"/>
                </a:solidFill>
                <a:effectLst/>
                <a:latin typeface="Arial" panose="020B0604020202020204" pitchFamily="34" charset="0"/>
              </a:rPr>
              <a:t>ページ３ 飼育方法 ① </a:t>
            </a:r>
            <a:endParaRPr lang="ja-JP" altLang="ja-JP" sz="2400" b="0" dirty="0">
              <a:effectLst/>
            </a:endParaRPr>
          </a:p>
          <a:p>
            <a:pPr>
              <a:buNone/>
            </a:pPr>
            <a:br>
              <a:rPr lang="ja-JP" altLang="ja-JP" sz="2400" b="0" dirty="0">
                <a:effectLst/>
              </a:rPr>
            </a:br>
            <a:endParaRPr lang="ja-JP" altLang="ja-JP" sz="2400" b="0" dirty="0">
              <a:effectLst/>
            </a:endParaRPr>
          </a:p>
          <a:p>
            <a:pPr rtl="0">
              <a:buNone/>
            </a:pPr>
            <a:r>
              <a:rPr lang="ja-JP" altLang="ja-JP" sz="2400" b="0" i="0" u="none" strike="noStrike" dirty="0">
                <a:solidFill>
                  <a:srgbClr val="000000"/>
                </a:solidFill>
                <a:effectLst/>
                <a:latin typeface="Arial" panose="020B0604020202020204" pitchFamily="34" charset="0"/>
              </a:rPr>
              <a:t>ページ４ 飼育方法 ② </a:t>
            </a:r>
            <a:endParaRPr lang="ja-JP" altLang="ja-JP" sz="2400" b="0" dirty="0">
              <a:effectLst/>
            </a:endParaRPr>
          </a:p>
          <a:p>
            <a:pPr>
              <a:buNone/>
            </a:pPr>
            <a:br>
              <a:rPr lang="ja-JP" altLang="ja-JP" sz="2400" b="0" dirty="0">
                <a:effectLst/>
              </a:rPr>
            </a:br>
            <a:endParaRPr lang="ja-JP" altLang="ja-JP" sz="2400" b="0" dirty="0">
              <a:effectLst/>
            </a:endParaRPr>
          </a:p>
          <a:p>
            <a:pPr rtl="0">
              <a:buNone/>
            </a:pPr>
            <a:r>
              <a:rPr lang="ja-JP" altLang="ja-JP" sz="2400" b="0" i="0" u="none" strike="noStrike" dirty="0">
                <a:solidFill>
                  <a:srgbClr val="000000"/>
                </a:solidFill>
                <a:effectLst/>
                <a:latin typeface="Arial" panose="020B0604020202020204" pitchFamily="34" charset="0"/>
              </a:rPr>
              <a:t>ページ５ 飼育に必要な費用 </a:t>
            </a:r>
            <a:endParaRPr lang="ja-JP" altLang="ja-JP" sz="2400" b="0" dirty="0">
              <a:effectLst/>
            </a:endParaRPr>
          </a:p>
          <a:p>
            <a:pPr>
              <a:buNone/>
            </a:pPr>
            <a:br>
              <a:rPr lang="ja-JP" altLang="ja-JP" dirty="0"/>
            </a:br>
            <a:endParaRPr lang="ja-JP" altLang="en-US" dirty="0"/>
          </a:p>
        </p:txBody>
      </p:sp>
      <p:sp>
        <p:nvSpPr>
          <p:cNvPr id="8" name="テキスト ボックス 7">
            <a:extLst>
              <a:ext uri="{FF2B5EF4-FFF2-40B4-BE49-F238E27FC236}">
                <a16:creationId xmlns:a16="http://schemas.microsoft.com/office/drawing/2014/main" id="{4E253DB3-34B1-3F90-B5D5-D247803785B1}"/>
              </a:ext>
            </a:extLst>
          </p:cNvPr>
          <p:cNvSpPr txBox="1"/>
          <p:nvPr/>
        </p:nvSpPr>
        <p:spPr>
          <a:xfrm>
            <a:off x="7364548" y="594198"/>
            <a:ext cx="6096000" cy="1323439"/>
          </a:xfrm>
          <a:prstGeom prst="rect">
            <a:avLst/>
          </a:prstGeom>
          <a:noFill/>
        </p:spPr>
        <p:txBody>
          <a:bodyPr wrap="square">
            <a:spAutoFit/>
          </a:bodyPr>
          <a:lstStyle/>
          <a:p>
            <a:pPr rtl="0">
              <a:buNone/>
            </a:pPr>
            <a:r>
              <a:rPr lang="ja-JP" altLang="ja-JP" sz="3200" b="0" i="0" u="none" strike="noStrike" dirty="0">
                <a:solidFill>
                  <a:srgbClr val="000000"/>
                </a:solidFill>
                <a:effectLst/>
                <a:latin typeface="Arial" panose="020B0604020202020204" pitchFamily="34" charset="0"/>
              </a:rPr>
              <a:t>作品・研究の概要</a:t>
            </a:r>
            <a:endParaRPr lang="ja-JP" altLang="ja-JP" sz="3200" b="0" dirty="0">
              <a:effectLst/>
            </a:endParaRPr>
          </a:p>
          <a:p>
            <a:pPr>
              <a:buNone/>
            </a:pPr>
            <a:br>
              <a:rPr lang="ja-JP" altLang="ja-JP" sz="2400" dirty="0"/>
            </a:br>
            <a:endParaRPr lang="ja-JP" altLang="en-US" sz="2400" dirty="0"/>
          </a:p>
        </p:txBody>
      </p:sp>
      <p:sp>
        <p:nvSpPr>
          <p:cNvPr id="10" name="テキスト ボックス 9">
            <a:extLst>
              <a:ext uri="{FF2B5EF4-FFF2-40B4-BE49-F238E27FC236}">
                <a16:creationId xmlns:a16="http://schemas.microsoft.com/office/drawing/2014/main" id="{BC1E29EA-EA35-16AA-B191-C0E1C5914917}"/>
              </a:ext>
            </a:extLst>
          </p:cNvPr>
          <p:cNvSpPr txBox="1"/>
          <p:nvPr/>
        </p:nvSpPr>
        <p:spPr>
          <a:xfrm>
            <a:off x="7289800" y="2633340"/>
            <a:ext cx="3544387" cy="1908215"/>
          </a:xfrm>
          <a:prstGeom prst="rect">
            <a:avLst/>
          </a:prstGeom>
          <a:noFill/>
        </p:spPr>
        <p:txBody>
          <a:bodyPr wrap="square">
            <a:spAutoFit/>
          </a:bodyPr>
          <a:lstStyle/>
          <a:p>
            <a:pPr rtl="0">
              <a:spcBef>
                <a:spcPts val="1200"/>
              </a:spcBef>
              <a:spcAft>
                <a:spcPts val="1200"/>
              </a:spcAft>
              <a:buNone/>
            </a:pPr>
            <a:r>
              <a:rPr lang="ja-JP" altLang="ja-JP" sz="2000" b="0" i="0" u="none" strike="noStrike" dirty="0">
                <a:solidFill>
                  <a:srgbClr val="000000"/>
                </a:solidFill>
                <a:effectLst/>
                <a:latin typeface="Arial" panose="020B0604020202020204" pitchFamily="34" charset="0"/>
              </a:rPr>
              <a:t>ペットに関するWebサイトを調査し、掲載されている情報の内容やページ構成、デザインなどを研究しました。</a:t>
            </a:r>
            <a:endParaRPr lang="ja-JP" altLang="ja-JP" sz="2000" b="0" dirty="0">
              <a:effectLst/>
            </a:endParaRPr>
          </a:p>
          <a:p>
            <a:pPr>
              <a:buNone/>
            </a:pPr>
            <a:br>
              <a:rPr lang="ja-JP" altLang="ja-JP" dirty="0"/>
            </a:br>
            <a:endParaRPr lang="ja-JP" altLang="en-US" dirty="0"/>
          </a:p>
        </p:txBody>
      </p:sp>
      <p:sp>
        <p:nvSpPr>
          <p:cNvPr id="12" name="テキスト ボックス 11">
            <a:extLst>
              <a:ext uri="{FF2B5EF4-FFF2-40B4-BE49-F238E27FC236}">
                <a16:creationId xmlns:a16="http://schemas.microsoft.com/office/drawing/2014/main" id="{2159FA22-C1CE-9ACC-A530-F3206D7D8047}"/>
              </a:ext>
            </a:extLst>
          </p:cNvPr>
          <p:cNvSpPr txBox="1"/>
          <p:nvPr/>
        </p:nvSpPr>
        <p:spPr>
          <a:xfrm>
            <a:off x="-966652" y="671142"/>
            <a:ext cx="6757850" cy="584775"/>
          </a:xfrm>
          <a:prstGeom prst="rect">
            <a:avLst/>
          </a:prstGeom>
          <a:noFill/>
        </p:spPr>
        <p:txBody>
          <a:bodyPr wrap="square">
            <a:spAutoFit/>
          </a:bodyPr>
          <a:lstStyle/>
          <a:p>
            <a:pPr algn="ctr"/>
            <a:r>
              <a:rPr lang="ja-JP" altLang="ja-JP" sz="3200" b="1" i="0" u="none" strike="noStrike" dirty="0">
                <a:solidFill>
                  <a:srgbClr val="000000"/>
                </a:solidFill>
                <a:effectLst/>
                <a:latin typeface="Arial" panose="020B0604020202020204" pitchFamily="34" charset="0"/>
              </a:rPr>
              <a:t>内容</a:t>
            </a:r>
            <a:endParaRPr lang="ja-JP" altLang="en-US" sz="3200" dirty="0"/>
          </a:p>
        </p:txBody>
      </p:sp>
    </p:spTree>
    <p:extLst>
      <p:ext uri="{BB962C8B-B14F-4D97-AF65-F5344CB8AC3E}">
        <p14:creationId xmlns:p14="http://schemas.microsoft.com/office/powerpoint/2010/main" val="1761350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C1188D7F-DF62-29D6-20F0-E6FAF8239E14}"/>
              </a:ext>
            </a:extLst>
          </p:cNvPr>
          <p:cNvSpPr/>
          <p:nvPr/>
        </p:nvSpPr>
        <p:spPr>
          <a:xfrm>
            <a:off x="999460" y="467833"/>
            <a:ext cx="8371368" cy="77263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9583FE68-3CF9-7530-9F6A-8D1AB7CAF37F}"/>
              </a:ext>
            </a:extLst>
          </p:cNvPr>
          <p:cNvSpPr/>
          <p:nvPr/>
        </p:nvSpPr>
        <p:spPr>
          <a:xfrm>
            <a:off x="999460" y="1368056"/>
            <a:ext cx="4245935" cy="52383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D1701C82-17E2-FF0B-9605-5A6D8D6615E4}"/>
              </a:ext>
            </a:extLst>
          </p:cNvPr>
          <p:cNvSpPr/>
          <p:nvPr/>
        </p:nvSpPr>
        <p:spPr>
          <a:xfrm>
            <a:off x="5372986" y="1368056"/>
            <a:ext cx="3948223" cy="22257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AE6FC325-C46D-A0A2-8522-FC04748F6FCA}"/>
              </a:ext>
            </a:extLst>
          </p:cNvPr>
          <p:cNvSpPr/>
          <p:nvPr/>
        </p:nvSpPr>
        <p:spPr>
          <a:xfrm>
            <a:off x="5372986" y="3749749"/>
            <a:ext cx="3997842" cy="28566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0DAC9EE9-FDB6-433E-96ED-39ECD89387C3}"/>
              </a:ext>
            </a:extLst>
          </p:cNvPr>
          <p:cNvSpPr/>
          <p:nvPr/>
        </p:nvSpPr>
        <p:spPr>
          <a:xfrm>
            <a:off x="9094381" y="1368056"/>
            <a:ext cx="226828" cy="22257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3FA126C7-18B5-333F-3696-F895B74FD127}"/>
              </a:ext>
            </a:extLst>
          </p:cNvPr>
          <p:cNvSpPr txBox="1"/>
          <p:nvPr/>
        </p:nvSpPr>
        <p:spPr>
          <a:xfrm>
            <a:off x="2137144" y="620764"/>
            <a:ext cx="6096000" cy="523220"/>
          </a:xfrm>
          <a:prstGeom prst="rect">
            <a:avLst/>
          </a:prstGeom>
          <a:noFill/>
        </p:spPr>
        <p:txBody>
          <a:bodyPr wrap="square">
            <a:spAutoFit/>
          </a:bodyPr>
          <a:lstStyle/>
          <a:p>
            <a:pPr algn="ctr"/>
            <a:r>
              <a:rPr lang="ja-JP" altLang="ja-JP" dirty="0"/>
              <a:t>はじめてでも安心！飼いやすいペット </a:t>
            </a:r>
            <a:endParaRPr lang="en-US" altLang="ja-JP" dirty="0"/>
          </a:p>
          <a:p>
            <a:pPr algn="ctr"/>
            <a:r>
              <a:rPr lang="ja-JP" altLang="ja-JP" dirty="0"/>
              <a:t>ホーム｜ペット紹介｜飼育方法｜必要な費用</a:t>
            </a:r>
            <a:endParaRPr lang="ja-JP" altLang="en-US" dirty="0"/>
          </a:p>
        </p:txBody>
      </p:sp>
      <p:sp>
        <p:nvSpPr>
          <p:cNvPr id="19" name="テキスト ボックス 18">
            <a:extLst>
              <a:ext uri="{FF2B5EF4-FFF2-40B4-BE49-F238E27FC236}">
                <a16:creationId xmlns:a16="http://schemas.microsoft.com/office/drawing/2014/main" id="{729A11CF-ADF1-4F94-5449-0803BFD985F2}"/>
              </a:ext>
            </a:extLst>
          </p:cNvPr>
          <p:cNvSpPr txBox="1"/>
          <p:nvPr/>
        </p:nvSpPr>
        <p:spPr>
          <a:xfrm>
            <a:off x="2137144" y="2033441"/>
            <a:ext cx="6096000" cy="307777"/>
          </a:xfrm>
          <a:prstGeom prst="rect">
            <a:avLst/>
          </a:prstGeom>
          <a:noFill/>
        </p:spPr>
        <p:txBody>
          <a:bodyPr wrap="square">
            <a:spAutoFit/>
          </a:bodyPr>
          <a:lstStyle/>
          <a:p>
            <a:r>
              <a:rPr lang="ja-JP" altLang="ja-JP"/>
              <a:t>メイン画像 </a:t>
            </a:r>
            <a:endParaRPr lang="ja-JP" altLang="en-US" dirty="0"/>
          </a:p>
        </p:txBody>
      </p:sp>
      <p:sp>
        <p:nvSpPr>
          <p:cNvPr id="21" name="テキスト ボックス 20">
            <a:extLst>
              <a:ext uri="{FF2B5EF4-FFF2-40B4-BE49-F238E27FC236}">
                <a16:creationId xmlns:a16="http://schemas.microsoft.com/office/drawing/2014/main" id="{AF20AA87-DD16-3FE2-19F5-F8D4AC9934A2}"/>
              </a:ext>
            </a:extLst>
          </p:cNvPr>
          <p:cNvSpPr txBox="1"/>
          <p:nvPr/>
        </p:nvSpPr>
        <p:spPr>
          <a:xfrm>
            <a:off x="2137144" y="3464860"/>
            <a:ext cx="6096000" cy="307777"/>
          </a:xfrm>
          <a:prstGeom prst="rect">
            <a:avLst/>
          </a:prstGeom>
          <a:noFill/>
        </p:spPr>
        <p:txBody>
          <a:bodyPr wrap="square">
            <a:spAutoFit/>
          </a:bodyPr>
          <a:lstStyle/>
          <a:p>
            <a:r>
              <a:rPr lang="ja-JP" altLang="ja-JP" dirty="0"/>
              <a:t>はじめての方へ</a:t>
            </a:r>
            <a:endParaRPr lang="ja-JP" altLang="en-US" dirty="0"/>
          </a:p>
        </p:txBody>
      </p:sp>
      <p:sp>
        <p:nvSpPr>
          <p:cNvPr id="23" name="テキスト ボックス 22">
            <a:extLst>
              <a:ext uri="{FF2B5EF4-FFF2-40B4-BE49-F238E27FC236}">
                <a16:creationId xmlns:a16="http://schemas.microsoft.com/office/drawing/2014/main" id="{88ADE740-58BE-4E36-6809-FCAE5AA6EB7C}"/>
              </a:ext>
            </a:extLst>
          </p:cNvPr>
          <p:cNvSpPr txBox="1"/>
          <p:nvPr/>
        </p:nvSpPr>
        <p:spPr>
          <a:xfrm>
            <a:off x="2261191" y="3854932"/>
            <a:ext cx="6096000" cy="307777"/>
          </a:xfrm>
          <a:prstGeom prst="rect">
            <a:avLst/>
          </a:prstGeom>
          <a:noFill/>
        </p:spPr>
        <p:txBody>
          <a:bodyPr wrap="square">
            <a:spAutoFit/>
          </a:bodyPr>
          <a:lstStyle/>
          <a:p>
            <a:r>
              <a:rPr lang="ja-JP" altLang="ja-JP" dirty="0"/>
              <a:t>紹介文</a:t>
            </a:r>
            <a:endParaRPr lang="ja-JP" altLang="en-US" dirty="0"/>
          </a:p>
        </p:txBody>
      </p:sp>
      <p:sp>
        <p:nvSpPr>
          <p:cNvPr id="25" name="テキスト ボックス 24">
            <a:extLst>
              <a:ext uri="{FF2B5EF4-FFF2-40B4-BE49-F238E27FC236}">
                <a16:creationId xmlns:a16="http://schemas.microsoft.com/office/drawing/2014/main" id="{AD655E8C-426B-84A2-3DFC-EF47F47D8CBC}"/>
              </a:ext>
            </a:extLst>
          </p:cNvPr>
          <p:cNvSpPr txBox="1"/>
          <p:nvPr/>
        </p:nvSpPr>
        <p:spPr>
          <a:xfrm>
            <a:off x="2137144" y="4250723"/>
            <a:ext cx="6096000" cy="307777"/>
          </a:xfrm>
          <a:prstGeom prst="rect">
            <a:avLst/>
          </a:prstGeom>
          <a:noFill/>
        </p:spPr>
        <p:txBody>
          <a:bodyPr wrap="square">
            <a:spAutoFit/>
          </a:bodyPr>
          <a:lstStyle/>
          <a:p>
            <a:r>
              <a:rPr lang="ja-JP" altLang="ja-JP"/>
              <a:t>詳しく見る</a:t>
            </a:r>
            <a:endParaRPr lang="ja-JP" altLang="en-US" dirty="0"/>
          </a:p>
        </p:txBody>
      </p:sp>
      <p:sp>
        <p:nvSpPr>
          <p:cNvPr id="27" name="テキスト ボックス 26">
            <a:extLst>
              <a:ext uri="{FF2B5EF4-FFF2-40B4-BE49-F238E27FC236}">
                <a16:creationId xmlns:a16="http://schemas.microsoft.com/office/drawing/2014/main" id="{4708FF8D-4D9C-6114-AFF1-84F8E5F22A73}"/>
              </a:ext>
            </a:extLst>
          </p:cNvPr>
          <p:cNvSpPr txBox="1"/>
          <p:nvPr/>
        </p:nvSpPr>
        <p:spPr>
          <a:xfrm>
            <a:off x="6450419" y="4318653"/>
            <a:ext cx="6096000" cy="307777"/>
          </a:xfrm>
          <a:prstGeom prst="rect">
            <a:avLst/>
          </a:prstGeom>
          <a:noFill/>
        </p:spPr>
        <p:txBody>
          <a:bodyPr wrap="square">
            <a:spAutoFit/>
          </a:bodyPr>
          <a:lstStyle/>
          <a:p>
            <a:r>
              <a:rPr lang="ja-JP" altLang="ja-JP" dirty="0"/>
              <a:t>飼う前に知ること</a:t>
            </a:r>
            <a:endParaRPr lang="ja-JP" altLang="en-US" dirty="0"/>
          </a:p>
        </p:txBody>
      </p:sp>
      <p:sp>
        <p:nvSpPr>
          <p:cNvPr id="29" name="テキスト ボックス 28">
            <a:extLst>
              <a:ext uri="{FF2B5EF4-FFF2-40B4-BE49-F238E27FC236}">
                <a16:creationId xmlns:a16="http://schemas.microsoft.com/office/drawing/2014/main" id="{4AD9EFE5-8234-5A9F-38E4-4D69BE25726D}"/>
              </a:ext>
            </a:extLst>
          </p:cNvPr>
          <p:cNvSpPr txBox="1"/>
          <p:nvPr/>
        </p:nvSpPr>
        <p:spPr>
          <a:xfrm>
            <a:off x="6450419" y="4819627"/>
            <a:ext cx="6273800" cy="307777"/>
          </a:xfrm>
          <a:prstGeom prst="rect">
            <a:avLst/>
          </a:prstGeom>
          <a:noFill/>
        </p:spPr>
        <p:txBody>
          <a:bodyPr wrap="square">
            <a:spAutoFit/>
          </a:bodyPr>
          <a:lstStyle/>
          <a:p>
            <a:r>
              <a:rPr lang="ja-JP" altLang="ja-JP" dirty="0"/>
              <a:t>・必要な用品 </a:t>
            </a:r>
            <a:endParaRPr lang="ja-JP" altLang="en-US" dirty="0"/>
          </a:p>
        </p:txBody>
      </p:sp>
      <p:sp>
        <p:nvSpPr>
          <p:cNvPr id="31" name="テキスト ボックス 30">
            <a:extLst>
              <a:ext uri="{FF2B5EF4-FFF2-40B4-BE49-F238E27FC236}">
                <a16:creationId xmlns:a16="http://schemas.microsoft.com/office/drawing/2014/main" id="{15DACD1B-4DA1-3950-5891-43347E5962A2}"/>
              </a:ext>
            </a:extLst>
          </p:cNvPr>
          <p:cNvSpPr txBox="1"/>
          <p:nvPr/>
        </p:nvSpPr>
        <p:spPr>
          <a:xfrm>
            <a:off x="6450419" y="5212021"/>
            <a:ext cx="6362700" cy="307777"/>
          </a:xfrm>
          <a:prstGeom prst="rect">
            <a:avLst/>
          </a:prstGeom>
          <a:noFill/>
        </p:spPr>
        <p:txBody>
          <a:bodyPr wrap="square">
            <a:spAutoFit/>
          </a:bodyPr>
          <a:lstStyle/>
          <a:p>
            <a:r>
              <a:rPr lang="ja-JP" altLang="ja-JP" dirty="0"/>
              <a:t>・必要な費用 </a:t>
            </a:r>
            <a:endParaRPr lang="ja-JP" altLang="en-US" dirty="0"/>
          </a:p>
        </p:txBody>
      </p:sp>
      <p:sp>
        <p:nvSpPr>
          <p:cNvPr id="33" name="テキスト ボックス 32">
            <a:extLst>
              <a:ext uri="{FF2B5EF4-FFF2-40B4-BE49-F238E27FC236}">
                <a16:creationId xmlns:a16="http://schemas.microsoft.com/office/drawing/2014/main" id="{421DA6EE-49E1-0F15-BEBF-1277FDD69A2A}"/>
              </a:ext>
            </a:extLst>
          </p:cNvPr>
          <p:cNvSpPr txBox="1"/>
          <p:nvPr/>
        </p:nvSpPr>
        <p:spPr>
          <a:xfrm>
            <a:off x="6450419" y="5675742"/>
            <a:ext cx="6405032" cy="307777"/>
          </a:xfrm>
          <a:prstGeom prst="rect">
            <a:avLst/>
          </a:prstGeom>
          <a:noFill/>
        </p:spPr>
        <p:txBody>
          <a:bodyPr wrap="square">
            <a:spAutoFit/>
          </a:bodyPr>
          <a:lstStyle/>
          <a:p>
            <a:r>
              <a:rPr lang="ja-JP" altLang="ja-JP" dirty="0"/>
              <a:t>・飼育のコツ </a:t>
            </a:r>
            <a:endParaRPr lang="ja-JP" altLang="en-US" dirty="0"/>
          </a:p>
        </p:txBody>
      </p:sp>
      <p:sp>
        <p:nvSpPr>
          <p:cNvPr id="35" name="テキスト ボックス 34">
            <a:extLst>
              <a:ext uri="{FF2B5EF4-FFF2-40B4-BE49-F238E27FC236}">
                <a16:creationId xmlns:a16="http://schemas.microsoft.com/office/drawing/2014/main" id="{F9B56841-06BB-1894-7C04-B33258AB3170}"/>
              </a:ext>
            </a:extLst>
          </p:cNvPr>
          <p:cNvSpPr txBox="1"/>
          <p:nvPr/>
        </p:nvSpPr>
        <p:spPr>
          <a:xfrm>
            <a:off x="6418669" y="2423513"/>
            <a:ext cx="6426200" cy="307777"/>
          </a:xfrm>
          <a:prstGeom prst="rect">
            <a:avLst/>
          </a:prstGeom>
          <a:noFill/>
        </p:spPr>
        <p:txBody>
          <a:bodyPr wrap="square">
            <a:spAutoFit/>
          </a:bodyPr>
          <a:lstStyle/>
          <a:p>
            <a:r>
              <a:rPr lang="ja-JP" altLang="ja-JP" dirty="0"/>
              <a:t>おすすめのペット</a:t>
            </a:r>
            <a:endParaRPr lang="ja-JP" altLang="en-US" dirty="0"/>
          </a:p>
        </p:txBody>
      </p:sp>
    </p:spTree>
    <p:extLst>
      <p:ext uri="{BB962C8B-B14F-4D97-AF65-F5344CB8AC3E}">
        <p14:creationId xmlns:p14="http://schemas.microsoft.com/office/powerpoint/2010/main" val="2004223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2556059-9C64-CBA4-AB48-BB177E7EEF16}"/>
              </a:ext>
            </a:extLst>
          </p:cNvPr>
          <p:cNvSpPr txBox="1"/>
          <p:nvPr/>
        </p:nvSpPr>
        <p:spPr>
          <a:xfrm>
            <a:off x="3522133" y="1320730"/>
            <a:ext cx="4779454" cy="4216539"/>
          </a:xfrm>
          <a:prstGeom prst="rect">
            <a:avLst/>
          </a:prstGeom>
          <a:noFill/>
        </p:spPr>
        <p:txBody>
          <a:bodyPr wrap="square" rtlCol="0">
            <a:spAutoFit/>
          </a:bodyPr>
          <a:lstStyle/>
          <a:p>
            <a:pPr algn="ctr"/>
            <a:r>
              <a:rPr kumimoji="1" lang="ja-JP" altLang="en-US" sz="3200" dirty="0"/>
              <a:t>今後の流れ</a:t>
            </a:r>
            <a:endParaRPr kumimoji="1" lang="en-US" altLang="ja-JP" sz="3200" dirty="0"/>
          </a:p>
          <a:p>
            <a:pPr algn="ctr"/>
            <a:endParaRPr kumimoji="1" lang="en-US" altLang="ja-JP" sz="3200" dirty="0"/>
          </a:p>
          <a:p>
            <a:pPr algn="ctr"/>
            <a:endParaRPr kumimoji="1" lang="en-US" altLang="ja-JP" sz="3200" dirty="0"/>
          </a:p>
          <a:p>
            <a:pPr algn="ctr"/>
            <a:endParaRPr kumimoji="1" lang="en-US" altLang="ja-JP" sz="3200" dirty="0"/>
          </a:p>
          <a:p>
            <a:pPr algn="ctr"/>
            <a:endParaRPr kumimoji="1" lang="en-US" altLang="ja-JP" dirty="0"/>
          </a:p>
          <a:p>
            <a:pPr algn="ctr"/>
            <a:endParaRPr kumimoji="1" lang="en-US" altLang="ja-JP" dirty="0"/>
          </a:p>
          <a:p>
            <a:pPr algn="ctr"/>
            <a:endParaRPr kumimoji="1" lang="en-US" altLang="ja-JP" dirty="0"/>
          </a:p>
          <a:p>
            <a:pPr algn="ctr"/>
            <a:endParaRPr kumimoji="1" lang="en-US" altLang="ja-JP" dirty="0"/>
          </a:p>
          <a:p>
            <a:pPr algn="ctr"/>
            <a:r>
              <a:rPr kumimoji="1" lang="ja-JP" altLang="en-US" sz="2800" dirty="0"/>
              <a:t>７月構成を考える</a:t>
            </a:r>
            <a:endParaRPr kumimoji="1" lang="en-US" altLang="ja-JP" sz="2800" dirty="0"/>
          </a:p>
          <a:p>
            <a:pPr algn="ctr"/>
            <a:r>
              <a:rPr kumimoji="1" lang="ja-JP" altLang="en-US" sz="2800" dirty="0"/>
              <a:t>８～９月　素材撮影</a:t>
            </a:r>
            <a:endParaRPr kumimoji="1" lang="en-US" altLang="ja-JP" sz="2800" dirty="0"/>
          </a:p>
          <a:p>
            <a:pPr algn="ctr"/>
            <a:r>
              <a:rPr kumimoji="1" lang="ja-JP" altLang="en-US" sz="2800" dirty="0"/>
              <a:t>１０～１２　編集</a:t>
            </a:r>
          </a:p>
        </p:txBody>
      </p:sp>
    </p:spTree>
    <p:extLst>
      <p:ext uri="{BB962C8B-B14F-4D97-AF65-F5344CB8AC3E}">
        <p14:creationId xmlns:p14="http://schemas.microsoft.com/office/powerpoint/2010/main" val="1823131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g15565c702ff_2_1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ja-JP" altLang="en-US" dirty="0"/>
              <a:t>制作・研究方法</a:t>
            </a:r>
          </a:p>
        </p:txBody>
      </p:sp>
      <p:graphicFrame>
        <p:nvGraphicFramePr>
          <p:cNvPr id="2" name="表 1">
            <a:extLst>
              <a:ext uri="{FF2B5EF4-FFF2-40B4-BE49-F238E27FC236}">
                <a16:creationId xmlns:a16="http://schemas.microsoft.com/office/drawing/2014/main" id="{18E3E2D3-8C68-C5FC-18EF-54654B3554F8}"/>
              </a:ext>
            </a:extLst>
          </p:cNvPr>
          <p:cNvGraphicFramePr>
            <a:graphicFrameLocks noGrp="1"/>
          </p:cNvGraphicFramePr>
          <p:nvPr>
            <p:extLst>
              <p:ext uri="{D42A27DB-BD31-4B8C-83A1-F6EECF244321}">
                <p14:modId xmlns:p14="http://schemas.microsoft.com/office/powerpoint/2010/main" val="505898620"/>
              </p:ext>
            </p:extLst>
          </p:nvPr>
        </p:nvGraphicFramePr>
        <p:xfrm>
          <a:off x="2032000" y="4351867"/>
          <a:ext cx="8128000" cy="91440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4181133430"/>
                    </a:ext>
                  </a:extLst>
                </a:gridCol>
                <a:gridCol w="4064000">
                  <a:extLst>
                    <a:ext uri="{9D8B030D-6E8A-4147-A177-3AD203B41FA5}">
                      <a16:colId xmlns:a16="http://schemas.microsoft.com/office/drawing/2014/main" val="1519175667"/>
                    </a:ext>
                  </a:extLst>
                </a:gridCol>
              </a:tblGrid>
              <a:tr h="370840">
                <a:tc>
                  <a:txBody>
                    <a:bodyPr/>
                    <a:lstStyle/>
                    <a:p>
                      <a:pPr algn="ctr"/>
                      <a:r>
                        <a:rPr kumimoji="1" lang="ja-JP" altLang="en-US" sz="2400" dirty="0"/>
                        <a:t>撮影機材</a:t>
                      </a:r>
                    </a:p>
                  </a:txBody>
                  <a:tcPr/>
                </a:tc>
                <a:tc>
                  <a:txBody>
                    <a:bodyPr/>
                    <a:lstStyle/>
                    <a:p>
                      <a:pPr algn="ctr"/>
                      <a:r>
                        <a:rPr kumimoji="1" lang="ja-JP" altLang="en-US" sz="2400" dirty="0"/>
                        <a:t>スマホ</a:t>
                      </a:r>
                    </a:p>
                  </a:txBody>
                  <a:tcPr/>
                </a:tc>
                <a:extLst>
                  <a:ext uri="{0D108BD9-81ED-4DB2-BD59-A6C34878D82A}">
                    <a16:rowId xmlns:a16="http://schemas.microsoft.com/office/drawing/2014/main" val="1469269899"/>
                  </a:ext>
                </a:extLst>
              </a:tr>
              <a:tr h="370840">
                <a:tc>
                  <a:txBody>
                    <a:bodyPr/>
                    <a:lstStyle/>
                    <a:p>
                      <a:pPr algn="ctr"/>
                      <a:r>
                        <a:rPr kumimoji="1" lang="ja-JP" altLang="en-US" sz="2400" dirty="0"/>
                        <a:t>編集</a:t>
                      </a:r>
                    </a:p>
                  </a:txBody>
                  <a:tcPr/>
                </a:tc>
                <a:tc>
                  <a:txBody>
                    <a:bodyPr/>
                    <a:lstStyle/>
                    <a:p>
                      <a:pPr algn="ctr"/>
                      <a:r>
                        <a:rPr kumimoji="1" lang="en-US" altLang="ja-JP" sz="2400" dirty="0"/>
                        <a:t>HTML</a:t>
                      </a:r>
                      <a:r>
                        <a:rPr kumimoji="1" lang="ja-JP" altLang="en-US" sz="2400" dirty="0"/>
                        <a:t>、</a:t>
                      </a:r>
                      <a:r>
                        <a:rPr kumimoji="1" lang="en-US" altLang="ja-JP" sz="2400" dirty="0"/>
                        <a:t>CSS</a:t>
                      </a:r>
                      <a:endParaRPr kumimoji="1" lang="ja-JP" altLang="en-US" sz="2400" dirty="0"/>
                    </a:p>
                  </a:txBody>
                  <a:tcPr/>
                </a:tc>
                <a:extLst>
                  <a:ext uri="{0D108BD9-81ED-4DB2-BD59-A6C34878D82A}">
                    <a16:rowId xmlns:a16="http://schemas.microsoft.com/office/drawing/2014/main" val="247675461"/>
                  </a:ext>
                </a:extLst>
              </a:tr>
            </a:tbl>
          </a:graphicData>
        </a:graphic>
      </p:graphicFrame>
    </p:spTree>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TotalTime>
  <Words>604</Words>
  <Application>Microsoft Office PowerPoint</Application>
  <PresentationFormat>ワイド画面</PresentationFormat>
  <Paragraphs>111</Paragraphs>
  <Slides>12</Slides>
  <Notes>6</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12</vt:i4>
      </vt:variant>
    </vt:vector>
  </HeadingPairs>
  <TitlesOfParts>
    <vt:vector size="15" baseType="lpstr">
      <vt:lpstr>Arial</vt:lpstr>
      <vt:lpstr>Times New Roman</vt:lpstr>
      <vt:lpstr>Office テーマ</vt:lpstr>
      <vt:lpstr>卒業制作 テーマ・中間発表</vt:lpstr>
      <vt:lpstr>目次</vt:lpstr>
      <vt:lpstr>テーマ１日田市の魅力</vt:lpstr>
      <vt:lpstr>PowerPoint プレゼンテーション</vt:lpstr>
      <vt:lpstr>PowerPoint プレゼンテーション</vt:lpstr>
      <vt:lpstr>PowerPoint プレゼンテーション</vt:lpstr>
      <vt:lpstr>今後の流れ </vt:lpstr>
      <vt:lpstr>PowerPoint プレゼンテーション</vt:lpstr>
      <vt:lpstr>PowerPoint プレゼンテーション</vt:lpstr>
      <vt:lpstr>PowerPoint プレゼンテーション</vt:lpstr>
      <vt:lpstr>PowerPoint プレゼンテーション</vt:lpstr>
      <vt:lpstr>制作・研究方法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渡辺 眞未</dc:creator>
  <cp:lastModifiedBy>江田　悠真</cp:lastModifiedBy>
  <cp:revision>6</cp:revision>
  <dcterms:created xsi:type="dcterms:W3CDTF">2022-09-01T01:56:56Z</dcterms:created>
  <dcterms:modified xsi:type="dcterms:W3CDTF">2026-07-17T03:24:56Z</dcterms:modified>
</cp:coreProperties>
</file>